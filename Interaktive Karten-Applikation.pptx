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43000" y="-1143000"/>
            <a:ext cx="3857625" cy="385762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-1143000" y="-1143000"/>
            <a:ext cx="3857625" cy="3857625"/>
          </a:xfrm>
          <a:prstGeom prst="ellipse">
            <a:avLst/>
          </a:prstGeom>
          <a:solidFill>
            <a:srgbClr val="3B82F6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428875"/>
            <a:ext cx="4000500" cy="400050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6286500" y="2428875"/>
            <a:ext cx="4000500" cy="4000500"/>
          </a:xfrm>
          <a:prstGeom prst="ellipse">
            <a:avLst/>
          </a:prstGeom>
          <a:solidFill>
            <a:srgbClr val="8B5CF6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4" descr="/tmp/h2p-svg-1786743744380-pb4i6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7900" y="2364581"/>
            <a:ext cx="2100151" cy="993316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460772" y="1415355"/>
            <a:ext cx="1653108" cy="210741"/>
          </a:xfrm>
          <a:prstGeom prst="roundRect">
            <a:avLst>
              <a:gd name="adj" fmla="val 4515246"/>
            </a:avLst>
          </a:prstGeom>
          <a:solidFill>
            <a:srgbClr val="3B82F6">
              <a:alpha val="18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3"/>
          <p:cNvSpPr/>
          <p:nvPr/>
        </p:nvSpPr>
        <p:spPr>
          <a:xfrm>
            <a:off x="457200" y="1411784"/>
            <a:ext cx="1660252" cy="304246"/>
          </a:xfrm>
          <a:prstGeom prst="rect">
            <a:avLst/>
          </a:prstGeom>
          <a:noFill/>
          <a:ln/>
        </p:spPr>
        <p:txBody>
          <a:bodyPr wrap="square" lIns="85725" tIns="42863" rIns="85725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PROJEKT-PRÄSENTATION · 2ER-GRUPPE</a:t>
            </a:r>
            <a:endParaRPr lang="en-US" sz="800" dirty="0"/>
          </a:p>
        </p:txBody>
      </p:sp>
      <p:sp>
        <p:nvSpPr>
          <p:cNvPr id="11" name="Text 4"/>
          <p:cNvSpPr/>
          <p:nvPr/>
        </p:nvSpPr>
        <p:spPr>
          <a:xfrm>
            <a:off x="457200" y="1765399"/>
            <a:ext cx="5311233" cy="547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76"/>
              </a:lnSpc>
              <a:buNone/>
            </a:pPr>
            <a:r>
              <a:rPr lang="en-US" sz="3150" b="1" spc="-79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Interaktive Karten-Applikation</a:t>
            </a:r>
            <a:endParaRPr lang="en-US" sz="3150" dirty="0"/>
          </a:p>
        </p:txBody>
      </p:sp>
      <p:sp>
        <p:nvSpPr>
          <p:cNvPr id="12" name="Text 5"/>
          <p:cNvSpPr/>
          <p:nvPr/>
        </p:nvSpPr>
        <p:spPr>
          <a:xfrm>
            <a:off x="457200" y="2231417"/>
            <a:ext cx="5400675" cy="449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76"/>
              </a:lnSpc>
              <a:buNone/>
            </a:pPr>
            <a:r>
              <a:rPr lang="en-US" sz="3150" b="1" spc="-79" kern="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(Android &amp; Web)</a:t>
            </a:r>
            <a:endParaRPr lang="en-US" sz="3150" dirty="0"/>
          </a:p>
        </p:txBody>
      </p:sp>
      <p:sp>
        <p:nvSpPr>
          <p:cNvPr id="13" name="Text 6"/>
          <p:cNvSpPr/>
          <p:nvPr/>
        </p:nvSpPr>
        <p:spPr>
          <a:xfrm>
            <a:off x="457200" y="2804592"/>
            <a:ext cx="3857625" cy="492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4"/>
              </a:lnSpc>
              <a:buNone/>
            </a:pPr>
            <a:r>
              <a:rPr lang="en-US" sz="1238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Cross-Platform Geolocation, Offline-Geocoding &amp; State Persistence mit Vue 3 und Capacitor.</a:t>
            </a:r>
            <a:endParaRPr lang="en-US" sz="1238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445966"/>
            <a:ext cx="3429000" cy="714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457200" y="359955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125" dirty="0"/>
          </a:p>
        </p:txBody>
      </p:sp>
      <p:sp>
        <p:nvSpPr>
          <p:cNvPr id="16" name="Text 8"/>
          <p:cNvSpPr/>
          <p:nvPr/>
        </p:nvSpPr>
        <p:spPr>
          <a:xfrm>
            <a:off x="584609" y="3581698"/>
            <a:ext cx="71358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Referenten:</a:t>
            </a:r>
            <a:endParaRPr lang="en-US" sz="788" dirty="0"/>
          </a:p>
        </p:txBody>
      </p:sp>
      <p:sp>
        <p:nvSpPr>
          <p:cNvPr id="17" name="Text 9"/>
          <p:cNvSpPr/>
          <p:nvPr/>
        </p:nvSpPr>
        <p:spPr>
          <a:xfrm>
            <a:off x="1223702" y="3581698"/>
            <a:ext cx="15975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8" kern="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[Tom Stammer, Dennis Steiner]</a:t>
            </a:r>
            <a:endParaRPr lang="en-US" sz="788" dirty="0"/>
          </a:p>
        </p:txBody>
      </p:sp>
      <p:sp>
        <p:nvSpPr>
          <p:cNvPr id="18" name="Text 10"/>
          <p:cNvSpPr/>
          <p:nvPr/>
        </p:nvSpPr>
        <p:spPr>
          <a:xfrm>
            <a:off x="2774342" y="3581698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800" dirty="0"/>
          </a:p>
        </p:txBody>
      </p:sp>
      <p:sp>
        <p:nvSpPr>
          <p:cNvPr id="19" name="Text 11"/>
          <p:cNvSpPr/>
          <p:nvPr/>
        </p:nvSpPr>
        <p:spPr>
          <a:xfrm>
            <a:off x="2869778" y="359955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125" dirty="0"/>
          </a:p>
        </p:txBody>
      </p:sp>
      <p:sp>
        <p:nvSpPr>
          <p:cNvPr id="20" name="Text 12"/>
          <p:cNvSpPr/>
          <p:nvPr/>
        </p:nvSpPr>
        <p:spPr>
          <a:xfrm>
            <a:off x="3055516" y="3581698"/>
            <a:ext cx="25451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2er-Gruppe</a:t>
            </a:r>
            <a:endParaRPr lang="en-US" sz="800" dirty="0"/>
          </a:p>
        </p:txBody>
      </p:sp>
      <p:sp>
        <p:nvSpPr>
          <p:cNvPr id="21" name="Text 13"/>
          <p:cNvSpPr/>
          <p:nvPr/>
        </p:nvSpPr>
        <p:spPr>
          <a:xfrm>
            <a:off x="5886450" y="1423092"/>
            <a:ext cx="578532" cy="307781"/>
          </a:xfrm>
          <a:prstGeom prst="roundRect">
            <a:avLst>
              <a:gd name="adj" fmla="val 3091638"/>
            </a:avLst>
          </a:prstGeom>
          <a:solidFill>
            <a:srgbClr val="FFFFFF">
              <a:alpha val="5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4"/>
          <p:cNvSpPr/>
          <p:nvPr/>
        </p:nvSpPr>
        <p:spPr>
          <a:xfrm>
            <a:off x="6000750" y="1548408"/>
            <a:ext cx="57150" cy="57150"/>
          </a:xfrm>
          <a:prstGeom prst="roundRect">
            <a:avLst>
              <a:gd name="adj" fmla="val 66667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5"/>
          <p:cNvSpPr/>
          <p:nvPr/>
        </p:nvSpPr>
        <p:spPr>
          <a:xfrm>
            <a:off x="5886450" y="1435894"/>
            <a:ext cx="578532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Vue 3</a:t>
            </a:r>
            <a:endParaRPr lang="en-US" sz="800" dirty="0"/>
          </a:p>
        </p:txBody>
      </p:sp>
      <p:sp>
        <p:nvSpPr>
          <p:cNvPr id="24" name="Text 16"/>
          <p:cNvSpPr/>
          <p:nvPr/>
        </p:nvSpPr>
        <p:spPr>
          <a:xfrm>
            <a:off x="6529276" y="1423092"/>
            <a:ext cx="762149" cy="307781"/>
          </a:xfrm>
          <a:prstGeom prst="roundRect">
            <a:avLst>
              <a:gd name="adj" fmla="val 3091638"/>
            </a:avLst>
          </a:prstGeom>
          <a:solidFill>
            <a:srgbClr val="FFFFFF">
              <a:alpha val="5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7"/>
          <p:cNvSpPr/>
          <p:nvPr/>
        </p:nvSpPr>
        <p:spPr>
          <a:xfrm>
            <a:off x="6643576" y="1548408"/>
            <a:ext cx="57150" cy="57150"/>
          </a:xfrm>
          <a:prstGeom prst="roundRect">
            <a:avLst>
              <a:gd name="adj" fmla="val 66667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18"/>
          <p:cNvSpPr/>
          <p:nvPr/>
        </p:nvSpPr>
        <p:spPr>
          <a:xfrm>
            <a:off x="6529276" y="1435894"/>
            <a:ext cx="762149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TypeScript</a:t>
            </a:r>
            <a:endParaRPr lang="en-US" sz="800" dirty="0"/>
          </a:p>
        </p:txBody>
      </p:sp>
      <p:sp>
        <p:nvSpPr>
          <p:cNvPr id="27" name="Text 19"/>
          <p:cNvSpPr/>
          <p:nvPr/>
        </p:nvSpPr>
        <p:spPr>
          <a:xfrm>
            <a:off x="7355718" y="1423092"/>
            <a:ext cx="496825" cy="307781"/>
          </a:xfrm>
          <a:prstGeom prst="roundRect">
            <a:avLst>
              <a:gd name="adj" fmla="val 3091638"/>
            </a:avLst>
          </a:prstGeom>
          <a:solidFill>
            <a:srgbClr val="FFFFFF">
              <a:alpha val="5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0"/>
          <p:cNvSpPr/>
          <p:nvPr/>
        </p:nvSpPr>
        <p:spPr>
          <a:xfrm>
            <a:off x="7470018" y="1548408"/>
            <a:ext cx="57150" cy="57150"/>
          </a:xfrm>
          <a:prstGeom prst="roundRect">
            <a:avLst>
              <a:gd name="adj" fmla="val 66667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1"/>
          <p:cNvSpPr/>
          <p:nvPr/>
        </p:nvSpPr>
        <p:spPr>
          <a:xfrm>
            <a:off x="7355718" y="1435894"/>
            <a:ext cx="496825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Vite</a:t>
            </a:r>
            <a:endParaRPr lang="en-US" sz="800" dirty="0"/>
          </a:p>
        </p:txBody>
      </p:sp>
      <p:sp>
        <p:nvSpPr>
          <p:cNvPr id="30" name="Text 22"/>
          <p:cNvSpPr/>
          <p:nvPr/>
        </p:nvSpPr>
        <p:spPr>
          <a:xfrm>
            <a:off x="7916838" y="1423092"/>
            <a:ext cx="619274" cy="307781"/>
          </a:xfrm>
          <a:prstGeom prst="roundRect">
            <a:avLst>
              <a:gd name="adj" fmla="val 3091638"/>
            </a:avLst>
          </a:prstGeom>
          <a:solidFill>
            <a:srgbClr val="FFFFFF">
              <a:alpha val="5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3"/>
          <p:cNvSpPr/>
          <p:nvPr/>
        </p:nvSpPr>
        <p:spPr>
          <a:xfrm>
            <a:off x="8031138" y="1548408"/>
            <a:ext cx="57150" cy="57150"/>
          </a:xfrm>
          <a:prstGeom prst="roundRect">
            <a:avLst>
              <a:gd name="adj" fmla="val 66667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4"/>
          <p:cNvSpPr/>
          <p:nvPr/>
        </p:nvSpPr>
        <p:spPr>
          <a:xfrm>
            <a:off x="7916838" y="1435894"/>
            <a:ext cx="619274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Leaflet</a:t>
            </a:r>
            <a:endParaRPr lang="en-US" sz="800" dirty="0"/>
          </a:p>
        </p:txBody>
      </p:sp>
      <p:sp>
        <p:nvSpPr>
          <p:cNvPr id="33" name="Text 25"/>
          <p:cNvSpPr/>
          <p:nvPr/>
        </p:nvSpPr>
        <p:spPr>
          <a:xfrm>
            <a:off x="5886450" y="1769564"/>
            <a:ext cx="810258" cy="307781"/>
          </a:xfrm>
          <a:prstGeom prst="roundRect">
            <a:avLst>
              <a:gd name="adj" fmla="val 3091638"/>
            </a:avLst>
          </a:prstGeom>
          <a:solidFill>
            <a:srgbClr val="FFFFFF">
              <a:alpha val="5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6"/>
          <p:cNvSpPr/>
          <p:nvPr/>
        </p:nvSpPr>
        <p:spPr>
          <a:xfrm>
            <a:off x="6000750" y="1894880"/>
            <a:ext cx="57150" cy="57150"/>
          </a:xfrm>
          <a:prstGeom prst="roundRect">
            <a:avLst>
              <a:gd name="adj" fmla="val 66667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7"/>
          <p:cNvSpPr/>
          <p:nvPr/>
        </p:nvSpPr>
        <p:spPr>
          <a:xfrm>
            <a:off x="5886450" y="1782366"/>
            <a:ext cx="810258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Capacitor 8</a:t>
            </a:r>
            <a:endParaRPr lang="en-US" sz="800" dirty="0"/>
          </a:p>
        </p:txBody>
      </p:sp>
      <p:sp>
        <p:nvSpPr>
          <p:cNvPr id="36" name="Text 28"/>
          <p:cNvSpPr/>
          <p:nvPr/>
        </p:nvSpPr>
        <p:spPr>
          <a:xfrm>
            <a:off x="6761001" y="1769564"/>
            <a:ext cx="977131" cy="307781"/>
          </a:xfrm>
          <a:prstGeom prst="roundRect">
            <a:avLst>
              <a:gd name="adj" fmla="val 3091638"/>
            </a:avLst>
          </a:prstGeom>
          <a:solidFill>
            <a:srgbClr val="FFFFFF">
              <a:alpha val="5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29"/>
          <p:cNvSpPr/>
          <p:nvPr/>
        </p:nvSpPr>
        <p:spPr>
          <a:xfrm>
            <a:off x="6875301" y="1894880"/>
            <a:ext cx="57150" cy="57150"/>
          </a:xfrm>
          <a:prstGeom prst="roundRect">
            <a:avLst>
              <a:gd name="adj" fmla="val 66667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0"/>
          <p:cNvSpPr/>
          <p:nvPr/>
        </p:nvSpPr>
        <p:spPr>
          <a:xfrm>
            <a:off x="6761001" y="1782366"/>
            <a:ext cx="977131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OpenStreetMap</a:t>
            </a:r>
            <a:endParaRPr lang="en-US" sz="800" dirty="0"/>
          </a:p>
        </p:txBody>
      </p:sp>
      <p:sp>
        <p:nvSpPr>
          <p:cNvPr id="39" name="Text 31"/>
          <p:cNvSpPr/>
          <p:nvPr/>
        </p:nvSpPr>
        <p:spPr>
          <a:xfrm>
            <a:off x="5890022" y="2225278"/>
            <a:ext cx="2436019" cy="1478756"/>
          </a:xfrm>
          <a:prstGeom prst="roundRect">
            <a:avLst>
              <a:gd name="adj" fmla="val 14171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0756" y="2357438"/>
            <a:ext cx="2114550" cy="1000125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6054328" y="2361009"/>
            <a:ext cx="2107406" cy="992981"/>
          </a:xfrm>
          <a:prstGeom prst="roundRect">
            <a:avLst>
              <a:gd name="adj" fmla="val 11511"/>
            </a:avLst>
          </a:prstGeom>
          <a:solidFill>
            <a:srgbClr val="FFFFFF">
              <a:alpha val="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3"/>
          <p:cNvSpPr/>
          <p:nvPr/>
        </p:nvSpPr>
        <p:spPr>
          <a:xfrm>
            <a:off x="6050756" y="3443288"/>
            <a:ext cx="2199132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675" spc="27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On-device · Offline-fähig · Cross-Platform</a:t>
            </a:r>
            <a:endParaRPr lang="en-US" sz="675" dirty="0"/>
          </a:p>
        </p:txBody>
      </p:sp>
      <p:sp>
        <p:nvSpPr>
          <p:cNvPr id="43" name="Text 34"/>
          <p:cNvSpPr/>
          <p:nvPr/>
        </p:nvSpPr>
        <p:spPr>
          <a:xfrm>
            <a:off x="6622256" y="2643188"/>
            <a:ext cx="85725" cy="85725"/>
          </a:xfrm>
          <a:prstGeom prst="ellipse">
            <a:avLst/>
          </a:prstGeom>
          <a:solidFill>
            <a:srgbClr val="EF4444"/>
          </a:solidFill>
          <a:ln w="14288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5"/>
          <p:cNvSpPr/>
          <p:nvPr/>
        </p:nvSpPr>
        <p:spPr>
          <a:xfrm>
            <a:off x="7465219" y="2986088"/>
            <a:ext cx="85725" cy="85725"/>
          </a:xfrm>
          <a:prstGeom prst="ellipse">
            <a:avLst/>
          </a:prstGeom>
          <a:solidFill>
            <a:srgbClr val="3B82F6"/>
          </a:solidFill>
          <a:ln w="14288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6"/>
          <p:cNvSpPr/>
          <p:nvPr/>
        </p:nvSpPr>
        <p:spPr>
          <a:xfrm>
            <a:off x="457200" y="4919923"/>
            <a:ext cx="28575" cy="28575"/>
          </a:xfrm>
          <a:prstGeom prst="roundRect">
            <a:avLst>
              <a:gd name="adj" fmla="val 66667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37"/>
          <p:cNvSpPr/>
          <p:nvPr/>
        </p:nvSpPr>
        <p:spPr>
          <a:xfrm>
            <a:off x="457200" y="4868466"/>
            <a:ext cx="787285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INTERAKTIVE KARTEN-APPLIKATION</a:t>
            </a:r>
            <a:endParaRPr lang="en-US" sz="800" dirty="0"/>
          </a:p>
        </p:txBody>
      </p:sp>
      <p:sp>
        <p:nvSpPr>
          <p:cNvPr id="47" name="Text 38"/>
          <p:cNvSpPr/>
          <p:nvPr/>
        </p:nvSpPr>
        <p:spPr>
          <a:xfrm>
            <a:off x="8344346" y="4868466"/>
            <a:ext cx="4975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/ 08</a:t>
            </a:r>
            <a:endParaRPr lang="en-US" sz="800" dirty="0"/>
          </a:p>
        </p:txBody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9144000" cy="142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0" y="-1285875"/>
            <a:ext cx="3429000" cy="3429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572250" y="-1285875"/>
            <a:ext cx="3429000" cy="3429000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43000" y="3286125"/>
            <a:ext cx="3286125" cy="3286125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-1143000" y="3286125"/>
            <a:ext cx="3286125" cy="3286125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2"/>
          <p:cNvSpPr/>
          <p:nvPr/>
        </p:nvSpPr>
        <p:spPr>
          <a:xfrm>
            <a:off x="434340" y="387248"/>
            <a:ext cx="1161150" cy="243488"/>
          </a:xfrm>
          <a:prstGeom prst="roundRect">
            <a:avLst>
              <a:gd name="adj" fmla="val 3907985"/>
            </a:avLst>
          </a:prstGeom>
          <a:solidFill>
            <a:srgbClr val="3B82F6">
              <a:alpha val="18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3"/>
          <p:cNvSpPr/>
          <p:nvPr/>
        </p:nvSpPr>
        <p:spPr>
          <a:xfrm>
            <a:off x="457200" y="400050"/>
            <a:ext cx="111543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KERNFUNKTIONALITÄTEN</a:t>
            </a:r>
            <a:endParaRPr lang="en-US" sz="800" dirty="0"/>
          </a:p>
        </p:txBody>
      </p:sp>
      <p:sp>
        <p:nvSpPr>
          <p:cNvPr id="10" name="Text 4"/>
          <p:cNvSpPr/>
          <p:nvPr/>
        </p:nvSpPr>
        <p:spPr>
          <a:xfrm>
            <a:off x="457200" y="689372"/>
            <a:ext cx="4440555" cy="3611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23"/>
              </a:lnSpc>
              <a:buNone/>
            </a:pPr>
            <a:r>
              <a:rPr lang="en-US" sz="2475" b="1" spc="-37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Anforderungen &amp; Features</a:t>
            </a:r>
            <a:endParaRPr lang="en-US" sz="2475" dirty="0"/>
          </a:p>
        </p:txBody>
      </p:sp>
      <p:sp>
        <p:nvSpPr>
          <p:cNvPr id="11" name="Text 5"/>
          <p:cNvSpPr/>
          <p:nvPr/>
        </p:nvSpPr>
        <p:spPr>
          <a:xfrm>
            <a:off x="457200" y="1077925"/>
            <a:ext cx="4229100" cy="17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Sechs Grundanforderungen der 2er-Gruppe – vollständig implementiert und getestet.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7543440" y="1114983"/>
            <a:ext cx="11433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675" spc="54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/ 6 · IMPLEMENTED</a:t>
            </a:r>
            <a:endParaRPr lang="en-US" sz="675" dirty="0"/>
          </a:p>
        </p:txBody>
      </p:sp>
      <p:sp>
        <p:nvSpPr>
          <p:cNvPr id="13" name="Text 7"/>
          <p:cNvSpPr/>
          <p:nvPr/>
        </p:nvSpPr>
        <p:spPr>
          <a:xfrm>
            <a:off x="460772" y="1404305"/>
            <a:ext cx="2659819" cy="1600200"/>
          </a:xfrm>
          <a:prstGeom prst="roundRect">
            <a:avLst>
              <a:gd name="adj" fmla="val 1309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2136634" y="2472296"/>
            <a:ext cx="124349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5400" b="1" spc="-270" kern="0" dirty="0">
                <a:solidFill>
                  <a:srgbClr val="94A3B8">
                    <a:alpha val="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5400" dirty="0"/>
          </a:p>
        </p:txBody>
      </p:sp>
      <p:sp>
        <p:nvSpPr>
          <p:cNvPr id="15" name="Text 9"/>
          <p:cNvSpPr/>
          <p:nvPr/>
        </p:nvSpPr>
        <p:spPr>
          <a:xfrm>
            <a:off x="625078" y="1554324"/>
            <a:ext cx="307181" cy="307181"/>
          </a:xfrm>
          <a:prstGeom prst="roundRect">
            <a:avLst>
              <a:gd name="adj" fmla="val 37209"/>
            </a:avLst>
          </a:prstGeom>
          <a:solidFill>
            <a:srgbClr val="3B82F6">
              <a:alpha val="12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0"/>
          <p:cNvSpPr/>
          <p:nvPr/>
        </p:nvSpPr>
        <p:spPr>
          <a:xfrm>
            <a:off x="623292" y="1552538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2109" dirty="0"/>
          </a:p>
        </p:txBody>
      </p:sp>
      <p:sp>
        <p:nvSpPr>
          <p:cNvPr id="17" name="Text 11"/>
          <p:cNvSpPr/>
          <p:nvPr/>
        </p:nvSpPr>
        <p:spPr>
          <a:xfrm>
            <a:off x="1914436" y="1537950"/>
            <a:ext cx="1068281" cy="243488"/>
          </a:xfrm>
          <a:prstGeom prst="roundRect">
            <a:avLst>
              <a:gd name="adj" fmla="val 390798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2"/>
          <p:cNvSpPr/>
          <p:nvPr/>
        </p:nvSpPr>
        <p:spPr>
          <a:xfrm>
            <a:off x="1937296" y="1550752"/>
            <a:ext cx="102256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GRUNDANFORDERUNG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621506" y="1950802"/>
            <a:ext cx="2338350" cy="175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spc="-5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Interaktive Karte</a:t>
            </a:r>
            <a:endParaRPr lang="en-US" sz="1069" dirty="0"/>
          </a:p>
        </p:txBody>
      </p:sp>
      <p:sp>
        <p:nvSpPr>
          <p:cNvPr id="20" name="Text 14"/>
          <p:cNvSpPr/>
          <p:nvPr/>
        </p:nvSpPr>
        <p:spPr>
          <a:xfrm>
            <a:off x="621506" y="2199382"/>
            <a:ext cx="23383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Pan, Drag und Zoom über OpenStreetMap-Tiles, gerendert mit Leaflet. Flüssige Gestensteuerung auf Touch- und Desktop-Geräten.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3242035" y="1404305"/>
            <a:ext cx="2659819" cy="1600200"/>
          </a:xfrm>
          <a:prstGeom prst="roundRect">
            <a:avLst>
              <a:gd name="adj" fmla="val 1309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4917897" y="2472296"/>
            <a:ext cx="124349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5400" b="1" spc="-270" kern="0" dirty="0">
                <a:solidFill>
                  <a:srgbClr val="94A3B8">
                    <a:alpha val="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5400" dirty="0"/>
          </a:p>
        </p:txBody>
      </p:sp>
      <p:sp>
        <p:nvSpPr>
          <p:cNvPr id="23" name="Text 17"/>
          <p:cNvSpPr/>
          <p:nvPr/>
        </p:nvSpPr>
        <p:spPr>
          <a:xfrm>
            <a:off x="3406341" y="1554324"/>
            <a:ext cx="307181" cy="307181"/>
          </a:xfrm>
          <a:prstGeom prst="roundRect">
            <a:avLst>
              <a:gd name="adj" fmla="val 37209"/>
            </a:avLst>
          </a:prstGeom>
          <a:solidFill>
            <a:srgbClr val="EF4444">
              <a:alpha val="12000"/>
            </a:srgbClr>
          </a:solidFill>
          <a:ln w="7144">
            <a:solidFill>
              <a:srgbClr val="EF4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3404555" y="1552538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FCA5A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2109" dirty="0"/>
          </a:p>
        </p:txBody>
      </p:sp>
      <p:sp>
        <p:nvSpPr>
          <p:cNvPr id="25" name="Text 19"/>
          <p:cNvSpPr/>
          <p:nvPr/>
        </p:nvSpPr>
        <p:spPr>
          <a:xfrm>
            <a:off x="5040943" y="1537950"/>
            <a:ext cx="723037" cy="243488"/>
          </a:xfrm>
          <a:prstGeom prst="roundRect">
            <a:avLst>
              <a:gd name="adj" fmla="val 390798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5063803" y="1550752"/>
            <a:ext cx="67731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GPS · NATIVE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3402769" y="1950802"/>
            <a:ext cx="2338350" cy="175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spc="-5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GPS-Standort</a:t>
            </a:r>
            <a:endParaRPr lang="en-US" sz="1069" dirty="0"/>
          </a:p>
        </p:txBody>
      </p:sp>
      <p:sp>
        <p:nvSpPr>
          <p:cNvPr id="28" name="Text 22"/>
          <p:cNvSpPr/>
          <p:nvPr/>
        </p:nvSpPr>
        <p:spPr>
          <a:xfrm>
            <a:off x="3402769" y="2199382"/>
            <a:ext cx="23383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Bestimmung der aktuellen Position über Hardware-Sensoren. Runtime-Berechtigungsabfrage via @capacitor/geolocation (ACCESS_FINE_LOCATION).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6023297" y="1404305"/>
            <a:ext cx="2659931" cy="1600200"/>
          </a:xfrm>
          <a:prstGeom prst="roundRect">
            <a:avLst>
              <a:gd name="adj" fmla="val 1309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7699271" y="2472296"/>
            <a:ext cx="124349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5400" b="1" spc="-270" kern="0" dirty="0">
                <a:solidFill>
                  <a:srgbClr val="94A3B8">
                    <a:alpha val="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5400" dirty="0"/>
          </a:p>
        </p:txBody>
      </p:sp>
      <p:sp>
        <p:nvSpPr>
          <p:cNvPr id="31" name="Text 25"/>
          <p:cNvSpPr/>
          <p:nvPr/>
        </p:nvSpPr>
        <p:spPr>
          <a:xfrm>
            <a:off x="6187604" y="1554324"/>
            <a:ext cx="307181" cy="307181"/>
          </a:xfrm>
          <a:prstGeom prst="roundRect">
            <a:avLst>
              <a:gd name="adj" fmla="val 37209"/>
            </a:avLst>
          </a:prstGeom>
          <a:solidFill>
            <a:srgbClr val="3B82F6">
              <a:alpha val="12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6185818" y="1552538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⌕</a:t>
            </a:r>
            <a:endParaRPr lang="en-US" sz="2109" dirty="0"/>
          </a:p>
        </p:txBody>
      </p:sp>
      <p:sp>
        <p:nvSpPr>
          <p:cNvPr id="33" name="Text 27"/>
          <p:cNvSpPr/>
          <p:nvPr/>
        </p:nvSpPr>
        <p:spPr>
          <a:xfrm>
            <a:off x="7861719" y="1537950"/>
            <a:ext cx="683635" cy="243488"/>
          </a:xfrm>
          <a:prstGeom prst="roundRect">
            <a:avLst>
              <a:gd name="adj" fmla="val 390798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7884579" y="1550752"/>
            <a:ext cx="63791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GEOCODING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6184032" y="1950802"/>
            <a:ext cx="2448190" cy="175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spc="-5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Adresssuche (Forward Geocoding)</a:t>
            </a:r>
            <a:endParaRPr lang="en-US" sz="1069" dirty="0"/>
          </a:p>
        </p:txBody>
      </p:sp>
      <p:sp>
        <p:nvSpPr>
          <p:cNvPr id="36" name="Text 30"/>
          <p:cNvSpPr/>
          <p:nvPr/>
        </p:nvSpPr>
        <p:spPr>
          <a:xfrm>
            <a:off x="6184032" y="2199382"/>
            <a:ext cx="233846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Eingabe von Adressen oder Orten mit automatischer Zentrierung und Marker-Platzierung. Lokale Auflösung direkt auf dem Gerät.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460772" y="3125949"/>
            <a:ext cx="2659819" cy="1600200"/>
          </a:xfrm>
          <a:prstGeom prst="roundRect">
            <a:avLst>
              <a:gd name="adj" fmla="val 1309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2"/>
          <p:cNvSpPr/>
          <p:nvPr/>
        </p:nvSpPr>
        <p:spPr>
          <a:xfrm>
            <a:off x="2136634" y="4193939"/>
            <a:ext cx="124349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5400" b="1" spc="-270" kern="0" dirty="0">
                <a:solidFill>
                  <a:srgbClr val="94A3B8">
                    <a:alpha val="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5400" dirty="0"/>
          </a:p>
        </p:txBody>
      </p:sp>
      <p:sp>
        <p:nvSpPr>
          <p:cNvPr id="39" name="Text 33"/>
          <p:cNvSpPr/>
          <p:nvPr/>
        </p:nvSpPr>
        <p:spPr>
          <a:xfrm>
            <a:off x="625078" y="3275967"/>
            <a:ext cx="307181" cy="307181"/>
          </a:xfrm>
          <a:prstGeom prst="roundRect">
            <a:avLst>
              <a:gd name="adj" fmla="val 37209"/>
            </a:avLst>
          </a:prstGeom>
          <a:solidFill>
            <a:srgbClr val="8B5CF6">
              <a:alpha val="12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4"/>
          <p:cNvSpPr/>
          <p:nvPr/>
        </p:nvSpPr>
        <p:spPr>
          <a:xfrm>
            <a:off x="623292" y="3274182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C4B5F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2109" dirty="0"/>
          </a:p>
        </p:txBody>
      </p:sp>
      <p:sp>
        <p:nvSpPr>
          <p:cNvPr id="41" name="Text 35"/>
          <p:cNvSpPr/>
          <p:nvPr/>
        </p:nvSpPr>
        <p:spPr>
          <a:xfrm>
            <a:off x="2600771" y="3299185"/>
            <a:ext cx="64294" cy="64294"/>
          </a:xfrm>
          <a:prstGeom prst="roundRect">
            <a:avLst>
              <a:gd name="adj" fmla="val 66666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6"/>
          <p:cNvSpPr/>
          <p:nvPr/>
        </p:nvSpPr>
        <p:spPr>
          <a:xfrm>
            <a:off x="2576708" y="3272396"/>
            <a:ext cx="407213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FCA5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SUCHE</a:t>
            </a:r>
            <a:endParaRPr lang="en-US" sz="800" dirty="0"/>
          </a:p>
        </p:txBody>
      </p:sp>
      <p:sp>
        <p:nvSpPr>
          <p:cNvPr id="43" name="Text 37"/>
          <p:cNvSpPr/>
          <p:nvPr/>
        </p:nvSpPr>
        <p:spPr>
          <a:xfrm>
            <a:off x="2655689" y="3445632"/>
            <a:ext cx="64294" cy="64294"/>
          </a:xfrm>
          <a:prstGeom prst="roundRect">
            <a:avLst>
              <a:gd name="adj" fmla="val 66666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8"/>
          <p:cNvSpPr/>
          <p:nvPr/>
        </p:nvSpPr>
        <p:spPr>
          <a:xfrm>
            <a:off x="2641332" y="3418842"/>
            <a:ext cx="33288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93C5F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USER</a:t>
            </a:r>
            <a:endParaRPr lang="en-US" sz="800" dirty="0"/>
          </a:p>
        </p:txBody>
      </p:sp>
      <p:sp>
        <p:nvSpPr>
          <p:cNvPr id="45" name="Text 39"/>
          <p:cNvSpPr/>
          <p:nvPr/>
        </p:nvSpPr>
        <p:spPr>
          <a:xfrm>
            <a:off x="621506" y="3672446"/>
            <a:ext cx="2448078" cy="175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spc="-5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Visuelle Marker-Trennung</a:t>
            </a:r>
            <a:endParaRPr lang="en-US" sz="1069" dirty="0"/>
          </a:p>
        </p:txBody>
      </p:sp>
      <p:sp>
        <p:nvSpPr>
          <p:cNvPr id="46" name="Text 40"/>
          <p:cNvSpPr/>
          <p:nvPr/>
        </p:nvSpPr>
        <p:spPr>
          <a:xfrm>
            <a:off x="621506" y="3921026"/>
            <a:ext cx="23383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Verwendung von &lt;l-circle-marker&gt; mit Farbunterscheidung: Rot = Suchergebnis, Blau = User-Position. Scharfe Vektordarstellung ohne PNG-Assets.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3242035" y="3125949"/>
            <a:ext cx="2659819" cy="1600200"/>
          </a:xfrm>
          <a:prstGeom prst="roundRect">
            <a:avLst>
              <a:gd name="adj" fmla="val 1309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2"/>
          <p:cNvSpPr/>
          <p:nvPr/>
        </p:nvSpPr>
        <p:spPr>
          <a:xfrm>
            <a:off x="4917897" y="4193939"/>
            <a:ext cx="124349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5400" b="1" spc="-270" kern="0" dirty="0">
                <a:solidFill>
                  <a:srgbClr val="94A3B8">
                    <a:alpha val="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5400" dirty="0"/>
          </a:p>
        </p:txBody>
      </p:sp>
      <p:sp>
        <p:nvSpPr>
          <p:cNvPr id="49" name="Text 43"/>
          <p:cNvSpPr/>
          <p:nvPr/>
        </p:nvSpPr>
        <p:spPr>
          <a:xfrm>
            <a:off x="3406341" y="3275967"/>
            <a:ext cx="307181" cy="307181"/>
          </a:xfrm>
          <a:prstGeom prst="roundRect">
            <a:avLst>
              <a:gd name="adj" fmla="val 37209"/>
            </a:avLst>
          </a:prstGeom>
          <a:solidFill>
            <a:srgbClr val="22C55E">
              <a:alpha val="12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4"/>
          <p:cNvSpPr/>
          <p:nvPr/>
        </p:nvSpPr>
        <p:spPr>
          <a:xfrm>
            <a:off x="3404555" y="3274182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86EFA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⤓</a:t>
            </a:r>
            <a:endParaRPr lang="en-US" sz="2109" dirty="0"/>
          </a:p>
        </p:txBody>
      </p:sp>
      <p:sp>
        <p:nvSpPr>
          <p:cNvPr id="51" name="Text 45"/>
          <p:cNvSpPr/>
          <p:nvPr/>
        </p:nvSpPr>
        <p:spPr>
          <a:xfrm>
            <a:off x="5051993" y="3259594"/>
            <a:ext cx="711986" cy="243488"/>
          </a:xfrm>
          <a:prstGeom prst="roundRect">
            <a:avLst>
              <a:gd name="adj" fmla="val 3907985"/>
            </a:avLst>
          </a:prstGeom>
          <a:solidFill>
            <a:srgbClr val="22C55E">
              <a:alpha val="18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6"/>
          <p:cNvSpPr/>
          <p:nvPr/>
        </p:nvSpPr>
        <p:spPr>
          <a:xfrm>
            <a:off x="5074853" y="3272396"/>
            <a:ext cx="66626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86EFA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PERSISTIERT</a:t>
            </a:r>
            <a:endParaRPr lang="en-US" sz="800" dirty="0"/>
          </a:p>
        </p:txBody>
      </p:sp>
      <p:sp>
        <p:nvSpPr>
          <p:cNvPr id="53" name="Text 47"/>
          <p:cNvSpPr/>
          <p:nvPr/>
        </p:nvSpPr>
        <p:spPr>
          <a:xfrm>
            <a:off x="3402769" y="3672446"/>
            <a:ext cx="2338350" cy="175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spc="-5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Persistierung</a:t>
            </a:r>
            <a:endParaRPr lang="en-US" sz="1069" dirty="0"/>
          </a:p>
        </p:txBody>
      </p:sp>
      <p:sp>
        <p:nvSpPr>
          <p:cNvPr id="54" name="Text 48"/>
          <p:cNvSpPr/>
          <p:nvPr/>
        </p:nvSpPr>
        <p:spPr>
          <a:xfrm>
            <a:off x="3402769" y="3921026"/>
            <a:ext cx="23383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Speicherung von Zoomstufe und Kartenmitte über App-Neustarts hinweg. @capacitor/preferences mappt auf Android SharedPreferences und Browser localStorage.</a:t>
            </a:r>
            <a:endParaRPr lang="en-US" sz="800" dirty="0"/>
          </a:p>
        </p:txBody>
      </p:sp>
      <p:sp>
        <p:nvSpPr>
          <p:cNvPr id="55" name="Text 49"/>
          <p:cNvSpPr/>
          <p:nvPr/>
        </p:nvSpPr>
        <p:spPr>
          <a:xfrm>
            <a:off x="6023297" y="3125949"/>
            <a:ext cx="2659931" cy="1600200"/>
          </a:xfrm>
          <a:prstGeom prst="roundRect">
            <a:avLst>
              <a:gd name="adj" fmla="val 1309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0"/>
          <p:cNvSpPr/>
          <p:nvPr/>
        </p:nvSpPr>
        <p:spPr>
          <a:xfrm>
            <a:off x="7699271" y="4193939"/>
            <a:ext cx="124349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5400" b="1" spc="-270" kern="0" dirty="0">
                <a:solidFill>
                  <a:srgbClr val="94A3B8">
                    <a:alpha val="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5400" dirty="0"/>
          </a:p>
        </p:txBody>
      </p:sp>
      <p:sp>
        <p:nvSpPr>
          <p:cNvPr id="57" name="Text 51"/>
          <p:cNvSpPr/>
          <p:nvPr/>
        </p:nvSpPr>
        <p:spPr>
          <a:xfrm>
            <a:off x="6187604" y="3275967"/>
            <a:ext cx="307181" cy="307181"/>
          </a:xfrm>
          <a:prstGeom prst="roundRect">
            <a:avLst>
              <a:gd name="adj" fmla="val 37209"/>
            </a:avLst>
          </a:prstGeom>
          <a:solidFill>
            <a:srgbClr val="8B5CF6">
              <a:alpha val="12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2"/>
          <p:cNvSpPr/>
          <p:nvPr/>
        </p:nvSpPr>
        <p:spPr>
          <a:xfrm>
            <a:off x="6185818" y="3274182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C4B5F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2109" dirty="0"/>
          </a:p>
        </p:txBody>
      </p:sp>
      <p:sp>
        <p:nvSpPr>
          <p:cNvPr id="59" name="Text 53"/>
          <p:cNvSpPr/>
          <p:nvPr/>
        </p:nvSpPr>
        <p:spPr>
          <a:xfrm>
            <a:off x="7806690" y="3259594"/>
            <a:ext cx="738664" cy="243488"/>
          </a:xfrm>
          <a:prstGeom prst="roundRect">
            <a:avLst>
              <a:gd name="adj" fmla="val 390798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4"/>
          <p:cNvSpPr/>
          <p:nvPr/>
        </p:nvSpPr>
        <p:spPr>
          <a:xfrm>
            <a:off x="7829550" y="3272396"/>
            <a:ext cx="69294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UX · LOADING</a:t>
            </a:r>
            <a:endParaRPr lang="en-US" sz="800" dirty="0"/>
          </a:p>
        </p:txBody>
      </p:sp>
      <p:sp>
        <p:nvSpPr>
          <p:cNvPr id="61" name="Text 55"/>
          <p:cNvSpPr/>
          <p:nvPr/>
        </p:nvSpPr>
        <p:spPr>
          <a:xfrm>
            <a:off x="6184032" y="3672446"/>
            <a:ext cx="2338462" cy="175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spc="-5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Ladevisualisierung</a:t>
            </a:r>
            <a:endParaRPr lang="en-US" sz="1069" dirty="0"/>
          </a:p>
        </p:txBody>
      </p:sp>
      <p:sp>
        <p:nvSpPr>
          <p:cNvPr id="62" name="Text 56"/>
          <p:cNvSpPr/>
          <p:nvPr/>
        </p:nvSpPr>
        <p:spPr>
          <a:xfrm>
            <a:off x="6184032" y="3921026"/>
            <a:ext cx="233846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Glassmorphismus-Overlay beim GPS-Fix und Toasts für Fehler sowie Berechtigungs-Hinweise. Nahtlose UX selbst bei verweigerter Berechtigung.</a:t>
            </a:r>
            <a:endParaRPr lang="en-US" sz="800" dirty="0"/>
          </a:p>
        </p:txBody>
      </p:sp>
      <p:sp>
        <p:nvSpPr>
          <p:cNvPr id="63" name="Text 57"/>
          <p:cNvSpPr/>
          <p:nvPr/>
        </p:nvSpPr>
        <p:spPr>
          <a:xfrm>
            <a:off x="457200" y="4919923"/>
            <a:ext cx="28575" cy="28575"/>
          </a:xfrm>
          <a:prstGeom prst="roundRect">
            <a:avLst>
              <a:gd name="adj" fmla="val 66667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58"/>
          <p:cNvSpPr/>
          <p:nvPr/>
        </p:nvSpPr>
        <p:spPr>
          <a:xfrm>
            <a:off x="457200" y="4868466"/>
            <a:ext cx="787285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ANFORDERUNGEN &amp; FEATURES</a:t>
            </a:r>
            <a:endParaRPr lang="en-US" sz="800" dirty="0"/>
          </a:p>
        </p:txBody>
      </p:sp>
      <p:sp>
        <p:nvSpPr>
          <p:cNvPr id="65" name="Text 59"/>
          <p:cNvSpPr/>
          <p:nvPr/>
        </p:nvSpPr>
        <p:spPr>
          <a:xfrm>
            <a:off x="8344346" y="4868466"/>
            <a:ext cx="4975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08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125" y="-1143000"/>
            <a:ext cx="3286125" cy="328612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715125" y="-1143000"/>
            <a:ext cx="3286125" cy="3286125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14375" y="3286125"/>
            <a:ext cx="3000375" cy="3000375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-714375" y="3286125"/>
            <a:ext cx="3000375" cy="3000375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2"/>
          <p:cNvSpPr/>
          <p:nvPr/>
        </p:nvSpPr>
        <p:spPr>
          <a:xfrm>
            <a:off x="1246584" y="1465027"/>
            <a:ext cx="0" cy="385763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9" name="Shape 3"/>
          <p:cNvSpPr/>
          <p:nvPr/>
        </p:nvSpPr>
        <p:spPr>
          <a:xfrm>
            <a:off x="1246584" y="2207977"/>
            <a:ext cx="0" cy="385763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0" name="Shape 4"/>
          <p:cNvSpPr/>
          <p:nvPr/>
        </p:nvSpPr>
        <p:spPr>
          <a:xfrm>
            <a:off x="1246584" y="2950927"/>
            <a:ext cx="0" cy="385763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1" name="Shape 5"/>
          <p:cNvSpPr/>
          <p:nvPr/>
        </p:nvSpPr>
        <p:spPr>
          <a:xfrm>
            <a:off x="4518422" y="3593864"/>
            <a:ext cx="0" cy="687809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434340" y="387248"/>
            <a:ext cx="749714" cy="243488"/>
          </a:xfrm>
          <a:prstGeom prst="roundRect">
            <a:avLst>
              <a:gd name="adj" fmla="val 3907985"/>
            </a:avLst>
          </a:prstGeom>
          <a:solidFill>
            <a:srgbClr val="3B82F6">
              <a:alpha val="18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457200" y="400050"/>
            <a:ext cx="70399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ARCHITEKTUR</a:t>
            </a:r>
            <a:endParaRPr lang="en-US" sz="800" dirty="0"/>
          </a:p>
        </p:txBody>
      </p:sp>
      <p:sp>
        <p:nvSpPr>
          <p:cNvPr id="14" name="Text 8"/>
          <p:cNvSpPr/>
          <p:nvPr/>
        </p:nvSpPr>
        <p:spPr>
          <a:xfrm>
            <a:off x="457200" y="689372"/>
            <a:ext cx="5548350" cy="3611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23"/>
              </a:lnSpc>
              <a:buNone/>
            </a:pPr>
            <a:r>
              <a:rPr lang="en-US" sz="2475" b="1" spc="-37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Systemarchitektur</a:t>
            </a:r>
            <a:endParaRPr lang="en-US" sz="2475" dirty="0"/>
          </a:p>
        </p:txBody>
      </p:sp>
      <p:sp>
        <p:nvSpPr>
          <p:cNvPr id="15" name="Text 9"/>
          <p:cNvSpPr/>
          <p:nvPr/>
        </p:nvSpPr>
        <p:spPr>
          <a:xfrm>
            <a:off x="457200" y="1077925"/>
            <a:ext cx="5284143" cy="17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Layer-Modell mit Clean Separation und Graceful Degradation zwischen nativem Android und Web-Fallback.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7423472" y="1058047"/>
            <a:ext cx="265323" cy="196025"/>
          </a:xfrm>
          <a:prstGeom prst="roundRect">
            <a:avLst>
              <a:gd name="adj" fmla="val 29154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1"/>
          <p:cNvSpPr/>
          <p:nvPr/>
        </p:nvSpPr>
        <p:spPr>
          <a:xfrm>
            <a:off x="7423472" y="1068549"/>
            <a:ext cx="26532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vue</a:t>
            </a:r>
            <a:endParaRPr lang="en-US" sz="800" dirty="0"/>
          </a:p>
        </p:txBody>
      </p:sp>
      <p:sp>
        <p:nvSpPr>
          <p:cNvPr id="18" name="Text 12"/>
          <p:cNvSpPr/>
          <p:nvPr/>
        </p:nvSpPr>
        <p:spPr>
          <a:xfrm>
            <a:off x="7717371" y="1058047"/>
            <a:ext cx="538795" cy="196025"/>
          </a:xfrm>
          <a:prstGeom prst="roundRect">
            <a:avLst>
              <a:gd name="adj" fmla="val 29154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7688450" y="1068549"/>
            <a:ext cx="5966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capacitor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8284741" y="1058047"/>
            <a:ext cx="402059" cy="196025"/>
          </a:xfrm>
          <a:prstGeom prst="roundRect">
            <a:avLst>
              <a:gd name="adj" fmla="val 29154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5"/>
          <p:cNvSpPr/>
          <p:nvPr/>
        </p:nvSpPr>
        <p:spPr>
          <a:xfrm>
            <a:off x="8280965" y="1068549"/>
            <a:ext cx="40961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native</a:t>
            </a:r>
            <a:endParaRPr lang="en-US" sz="800" dirty="0"/>
          </a:p>
        </p:txBody>
      </p:sp>
      <p:sp>
        <p:nvSpPr>
          <p:cNvPr id="22" name="Text 16"/>
          <p:cNvSpPr/>
          <p:nvPr/>
        </p:nvSpPr>
        <p:spPr>
          <a:xfrm>
            <a:off x="460772" y="1361442"/>
            <a:ext cx="8222456" cy="592931"/>
          </a:xfrm>
          <a:prstGeom prst="roundRect">
            <a:avLst>
              <a:gd name="adj" fmla="val 35341"/>
            </a:avLst>
          </a:prstGeom>
          <a:solidFill>
            <a:srgbClr val="3B82F6">
              <a:alpha val="6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621506" y="1466813"/>
            <a:ext cx="492919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44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621506" y="1613260"/>
            <a:ext cx="492919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spc="-12" kern="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endParaRPr lang="en-US" sz="1238" dirty="0"/>
          </a:p>
        </p:txBody>
      </p:sp>
      <p:sp>
        <p:nvSpPr>
          <p:cNvPr id="25" name="Text 19"/>
          <p:cNvSpPr/>
          <p:nvPr/>
        </p:nvSpPr>
        <p:spPr>
          <a:xfrm>
            <a:off x="1378744" y="1501750"/>
            <a:ext cx="5525026" cy="155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spc="-5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 / App-Layer</a:t>
            </a:r>
            <a:endParaRPr lang="en-US" sz="1013" dirty="0"/>
          </a:p>
        </p:txBody>
      </p:sp>
      <p:sp>
        <p:nvSpPr>
          <p:cNvPr id="26" name="Text 20"/>
          <p:cNvSpPr/>
          <p:nvPr/>
        </p:nvSpPr>
        <p:spPr>
          <a:xfrm>
            <a:off x="1378744" y="1684586"/>
            <a:ext cx="5261930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Reaktive Komponenten, deklaratives Rendering, TypeScript durchgängig.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6769261" y="1548894"/>
            <a:ext cx="1106612" cy="218027"/>
          </a:xfrm>
          <a:prstGeom prst="roundRect">
            <a:avLst>
              <a:gd name="adj" fmla="val 26212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6769261" y="1560575"/>
            <a:ext cx="110661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spc="6" kern="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Vue 3 (Composition API)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7918735" y="1548894"/>
            <a:ext cx="603758" cy="218027"/>
          </a:xfrm>
          <a:prstGeom prst="roundRect">
            <a:avLst>
              <a:gd name="adj" fmla="val 26212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7850364" y="1560575"/>
            <a:ext cx="74050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spc="6" kern="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Vanilla CSS</a:t>
            </a:r>
            <a:endParaRPr lang="en-US" sz="8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8428" y="2000808"/>
            <a:ext cx="7144" cy="5715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60772" y="2104392"/>
            <a:ext cx="8222456" cy="592931"/>
          </a:xfrm>
          <a:prstGeom prst="roundRect">
            <a:avLst>
              <a:gd name="adj" fmla="val 35341"/>
            </a:avLst>
          </a:prstGeom>
          <a:solidFill>
            <a:srgbClr val="22C55E">
              <a:alpha val="5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6"/>
          <p:cNvSpPr/>
          <p:nvPr/>
        </p:nvSpPr>
        <p:spPr>
          <a:xfrm>
            <a:off x="621506" y="2209763"/>
            <a:ext cx="492919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44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621506" y="2356210"/>
            <a:ext cx="492919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spc="-12" kern="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endParaRPr lang="en-US" sz="1238" dirty="0"/>
          </a:p>
        </p:txBody>
      </p:sp>
      <p:sp>
        <p:nvSpPr>
          <p:cNvPr id="35" name="Text 28"/>
          <p:cNvSpPr/>
          <p:nvPr/>
        </p:nvSpPr>
        <p:spPr>
          <a:xfrm>
            <a:off x="1378744" y="2244700"/>
            <a:ext cx="6068736" cy="155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spc="-5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Karten-Layer</a:t>
            </a:r>
            <a:endParaRPr lang="en-US" sz="1013" dirty="0"/>
          </a:p>
        </p:txBody>
      </p:sp>
      <p:sp>
        <p:nvSpPr>
          <p:cNvPr id="36" name="Text 29"/>
          <p:cNvSpPr/>
          <p:nvPr/>
        </p:nvSpPr>
        <p:spPr>
          <a:xfrm>
            <a:off x="1378744" y="2427536"/>
            <a:ext cx="5178103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3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Deklarative &lt;l-map&gt;, &lt;l-tile-layer&gt;, &lt;l-circle-marker&gt; Komponenten direkt aus dem Vue-Template.</a:t>
            </a:r>
            <a:endParaRPr lang="en-US" sz="703" dirty="0"/>
          </a:p>
        </p:txBody>
      </p:sp>
      <p:sp>
        <p:nvSpPr>
          <p:cNvPr id="37" name="Text 30"/>
          <p:cNvSpPr/>
          <p:nvPr/>
        </p:nvSpPr>
        <p:spPr>
          <a:xfrm>
            <a:off x="6685434" y="2291844"/>
            <a:ext cx="1148469" cy="218027"/>
          </a:xfrm>
          <a:prstGeom prst="roundRect">
            <a:avLst>
              <a:gd name="adj" fmla="val 26212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1"/>
          <p:cNvSpPr/>
          <p:nvPr/>
        </p:nvSpPr>
        <p:spPr>
          <a:xfrm>
            <a:off x="6685434" y="2303525"/>
            <a:ext cx="114846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spc="6" kern="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@vue-leaflet/vue-leaflet</a:t>
            </a:r>
            <a:endParaRPr lang="en-US" sz="800" dirty="0"/>
          </a:p>
        </p:txBody>
      </p:sp>
      <p:sp>
        <p:nvSpPr>
          <p:cNvPr id="39" name="Text 32"/>
          <p:cNvSpPr/>
          <p:nvPr/>
        </p:nvSpPr>
        <p:spPr>
          <a:xfrm>
            <a:off x="7876766" y="2291844"/>
            <a:ext cx="645728" cy="218027"/>
          </a:xfrm>
          <a:prstGeom prst="roundRect">
            <a:avLst>
              <a:gd name="adj" fmla="val 26212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3"/>
          <p:cNvSpPr/>
          <p:nvPr/>
        </p:nvSpPr>
        <p:spPr>
          <a:xfrm>
            <a:off x="7810197" y="2303525"/>
            <a:ext cx="77886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spc="6" kern="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Leaflet Core</a:t>
            </a:r>
            <a:endParaRPr lang="en-US" sz="800" dirty="0"/>
          </a:p>
        </p:txBody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8428" y="2743758"/>
            <a:ext cx="7144" cy="5715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460772" y="2847342"/>
            <a:ext cx="8222456" cy="592931"/>
          </a:xfrm>
          <a:prstGeom prst="roundRect">
            <a:avLst>
              <a:gd name="adj" fmla="val 35341"/>
            </a:avLst>
          </a:prstGeom>
          <a:solidFill>
            <a:srgbClr val="8B5CF6">
              <a:alpha val="5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5"/>
          <p:cNvSpPr/>
          <p:nvPr/>
        </p:nvSpPr>
        <p:spPr>
          <a:xfrm>
            <a:off x="621506" y="2952713"/>
            <a:ext cx="492919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44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44" name="Text 36"/>
          <p:cNvSpPr/>
          <p:nvPr/>
        </p:nvSpPr>
        <p:spPr>
          <a:xfrm>
            <a:off x="495522" y="3099160"/>
            <a:ext cx="744887" cy="237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spc="-12" kern="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BRIDGE</a:t>
            </a:r>
            <a:endParaRPr lang="en-US" sz="1238" dirty="0"/>
          </a:p>
        </p:txBody>
      </p:sp>
      <p:sp>
        <p:nvSpPr>
          <p:cNvPr id="45" name="Text 37"/>
          <p:cNvSpPr/>
          <p:nvPr/>
        </p:nvSpPr>
        <p:spPr>
          <a:xfrm>
            <a:off x="1378744" y="2987650"/>
            <a:ext cx="5119507" cy="155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spc="-5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Capacitor Bridge</a:t>
            </a:r>
            <a:endParaRPr lang="en-US" sz="1013" dirty="0"/>
          </a:p>
        </p:txBody>
      </p:sp>
      <p:sp>
        <p:nvSpPr>
          <p:cNvPr id="46" name="Text 38"/>
          <p:cNvSpPr/>
          <p:nvPr/>
        </p:nvSpPr>
        <p:spPr>
          <a:xfrm>
            <a:off x="1378744" y="3170486"/>
            <a:ext cx="4875721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3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Capacitor.getPlatform() erkennt zur Laufzeit die Umgebung und wählt automatisch den nativen oder Web-Pfad.</a:t>
            </a:r>
            <a:endParaRPr lang="en-US" sz="703" dirty="0"/>
          </a:p>
        </p:txBody>
      </p:sp>
      <p:sp>
        <p:nvSpPr>
          <p:cNvPr id="47" name="Text 39"/>
          <p:cNvSpPr/>
          <p:nvPr/>
        </p:nvSpPr>
        <p:spPr>
          <a:xfrm>
            <a:off x="6383052" y="3037795"/>
            <a:ext cx="755898" cy="212027"/>
          </a:xfrm>
          <a:prstGeom prst="roundRect">
            <a:avLst>
              <a:gd name="adj" fmla="val 26954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0"/>
          <p:cNvSpPr/>
          <p:nvPr/>
        </p:nvSpPr>
        <p:spPr>
          <a:xfrm>
            <a:off x="6383052" y="3049153"/>
            <a:ext cx="75589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@capacitor/core</a:t>
            </a:r>
            <a:endParaRPr lang="en-US" sz="800" dirty="0"/>
          </a:p>
        </p:txBody>
      </p:sp>
      <p:sp>
        <p:nvSpPr>
          <p:cNvPr id="49" name="Text 41"/>
          <p:cNvSpPr/>
          <p:nvPr/>
        </p:nvSpPr>
        <p:spPr>
          <a:xfrm>
            <a:off x="7196100" y="3090230"/>
            <a:ext cx="128990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28" kern="0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pPr algn="l" indent="0" marL="0">
              <a:lnSpc>
                <a:spcPts val="844"/>
              </a:lnSpc>
              <a:buNone/>
            </a:pPr>
            <a:r>
              <a:rPr lang="en-US" sz="600" spc="28" kern="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600" spc="28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IPC / NATIVE BRIDGE</a:t>
            </a:r>
            <a:pPr algn="l" indent="0" marL="0">
              <a:lnSpc>
                <a:spcPts val="844"/>
              </a:lnSpc>
              <a:buNone/>
            </a:pPr>
            <a:r>
              <a:rPr lang="en-US" sz="600" spc="28" kern="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844"/>
              </a:lnSpc>
              <a:buNone/>
            </a:pPr>
            <a:r>
              <a:rPr lang="en-US" sz="600" spc="28" kern="0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600" dirty="0"/>
          </a:p>
        </p:txBody>
      </p:sp>
      <p:sp>
        <p:nvSpPr>
          <p:cNvPr id="50" name="Text 42"/>
          <p:cNvSpPr/>
          <p:nvPr/>
        </p:nvSpPr>
        <p:spPr>
          <a:xfrm>
            <a:off x="8256947" y="3037795"/>
            <a:ext cx="265547" cy="212027"/>
          </a:xfrm>
          <a:prstGeom prst="roundRect">
            <a:avLst>
              <a:gd name="adj" fmla="val 26954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3"/>
          <p:cNvSpPr/>
          <p:nvPr/>
        </p:nvSpPr>
        <p:spPr>
          <a:xfrm>
            <a:off x="8256947" y="3049153"/>
            <a:ext cx="26554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JNI</a:t>
            </a:r>
            <a:endParaRPr lang="en-US" sz="800" dirty="0"/>
          </a:p>
        </p:txBody>
      </p:sp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428" y="3486708"/>
            <a:ext cx="7144" cy="57150"/>
          </a:xfrm>
          <a:prstGeom prst="rect">
            <a:avLst/>
          </a:prstGeom>
        </p:spPr>
      </p:pic>
      <p:sp>
        <p:nvSpPr>
          <p:cNvPr id="53" name="Text 44"/>
          <p:cNvSpPr/>
          <p:nvPr/>
        </p:nvSpPr>
        <p:spPr>
          <a:xfrm>
            <a:off x="460772" y="3590292"/>
            <a:ext cx="8222456" cy="694953"/>
          </a:xfrm>
          <a:prstGeom prst="roundRect">
            <a:avLst>
              <a:gd name="adj" fmla="val 30153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45"/>
          <p:cNvSpPr/>
          <p:nvPr/>
        </p:nvSpPr>
        <p:spPr>
          <a:xfrm>
            <a:off x="464344" y="3593864"/>
            <a:ext cx="4057650" cy="687809"/>
          </a:xfrm>
          <a:prstGeom prst="rect">
            <a:avLst/>
          </a:prstGeom>
          <a:solidFill>
            <a:srgbClr val="3B82F6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46"/>
          <p:cNvSpPr/>
          <p:nvPr/>
        </p:nvSpPr>
        <p:spPr>
          <a:xfrm>
            <a:off x="3517171" y="3924486"/>
            <a:ext cx="110953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94A3B8">
                    <a:alpha val="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04a</a:t>
            </a:r>
            <a:endParaRPr lang="en-US" sz="3600" dirty="0"/>
          </a:p>
        </p:txBody>
      </p:sp>
      <p:sp>
        <p:nvSpPr>
          <p:cNvPr id="56" name="Text 47"/>
          <p:cNvSpPr/>
          <p:nvPr/>
        </p:nvSpPr>
        <p:spPr>
          <a:xfrm>
            <a:off x="607219" y="3693877"/>
            <a:ext cx="3764756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93C5F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04a · ANDROID NATIVE</a:t>
            </a:r>
            <a:endParaRPr lang="en-US" sz="800" dirty="0"/>
          </a:p>
        </p:txBody>
      </p:sp>
      <p:sp>
        <p:nvSpPr>
          <p:cNvPr id="57" name="Text 48"/>
          <p:cNvSpPr/>
          <p:nvPr/>
        </p:nvSpPr>
        <p:spPr>
          <a:xfrm>
            <a:off x="607219" y="3854611"/>
            <a:ext cx="3764756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Android Native</a:t>
            </a:r>
            <a:endParaRPr lang="en-US" sz="956" dirty="0"/>
          </a:p>
        </p:txBody>
      </p:sp>
      <p:sp>
        <p:nvSpPr>
          <p:cNvPr id="58" name="Text 49"/>
          <p:cNvSpPr/>
          <p:nvPr/>
        </p:nvSpPr>
        <p:spPr>
          <a:xfrm>
            <a:off x="607219" y="4057427"/>
            <a:ext cx="3764756" cy="124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Android SDK (Java/Kotlin) · LocationManager · SharedPreferences.</a:t>
            </a:r>
            <a:endParaRPr lang="en-US" sz="800" dirty="0"/>
          </a:p>
        </p:txBody>
      </p:sp>
      <p:sp>
        <p:nvSpPr>
          <p:cNvPr id="59" name="Text 50"/>
          <p:cNvSpPr/>
          <p:nvPr/>
        </p:nvSpPr>
        <p:spPr>
          <a:xfrm>
            <a:off x="4622006" y="3593864"/>
            <a:ext cx="4057650" cy="687809"/>
          </a:xfrm>
          <a:prstGeom prst="rect">
            <a:avLst/>
          </a:prstGeom>
          <a:solidFill>
            <a:srgbClr val="F59E0B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1"/>
          <p:cNvSpPr/>
          <p:nvPr/>
        </p:nvSpPr>
        <p:spPr>
          <a:xfrm>
            <a:off x="7681977" y="3924486"/>
            <a:ext cx="110953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94A3B8">
                    <a:alpha val="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04b</a:t>
            </a:r>
            <a:endParaRPr lang="en-US" sz="3600" dirty="0"/>
          </a:p>
        </p:txBody>
      </p:sp>
      <p:sp>
        <p:nvSpPr>
          <p:cNvPr id="61" name="Text 52"/>
          <p:cNvSpPr/>
          <p:nvPr/>
        </p:nvSpPr>
        <p:spPr>
          <a:xfrm>
            <a:off x="4764881" y="3693877"/>
            <a:ext cx="377190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FCD3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04b · WEB FALLBACK</a:t>
            </a:r>
            <a:endParaRPr lang="en-US" sz="800" dirty="0"/>
          </a:p>
        </p:txBody>
      </p:sp>
      <p:sp>
        <p:nvSpPr>
          <p:cNvPr id="62" name="Text 53"/>
          <p:cNvSpPr/>
          <p:nvPr/>
        </p:nvSpPr>
        <p:spPr>
          <a:xfrm>
            <a:off x="4764881" y="3854611"/>
            <a:ext cx="3771900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 Fallback</a:t>
            </a:r>
            <a:endParaRPr lang="en-US" sz="956" dirty="0"/>
          </a:p>
        </p:txBody>
      </p:sp>
      <p:sp>
        <p:nvSpPr>
          <p:cNvPr id="63" name="Text 54"/>
          <p:cNvSpPr/>
          <p:nvPr/>
        </p:nvSpPr>
        <p:spPr>
          <a:xfrm>
            <a:off x="4764881" y="4057427"/>
            <a:ext cx="3771900" cy="124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HTML5 Browser APIs · navigator.geolocation · localStorage &amp; Nominatim.</a:t>
            </a:r>
            <a:endParaRPr lang="en-US" sz="675" dirty="0"/>
          </a:p>
        </p:txBody>
      </p:sp>
      <p:sp>
        <p:nvSpPr>
          <p:cNvPr id="64" name="Text 55"/>
          <p:cNvSpPr/>
          <p:nvPr/>
        </p:nvSpPr>
        <p:spPr>
          <a:xfrm>
            <a:off x="460772" y="4392402"/>
            <a:ext cx="4064794" cy="364331"/>
          </a:xfrm>
          <a:prstGeom prst="roundRect">
            <a:avLst>
              <a:gd name="adj" fmla="val 31373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56"/>
          <p:cNvSpPr/>
          <p:nvPr/>
        </p:nvSpPr>
        <p:spPr>
          <a:xfrm>
            <a:off x="578644" y="4467411"/>
            <a:ext cx="214313" cy="214313"/>
          </a:xfrm>
          <a:prstGeom prst="roundRect">
            <a:avLst>
              <a:gd name="adj" fmla="val 35555"/>
            </a:avLst>
          </a:prstGeom>
          <a:solidFill>
            <a:srgbClr val="3B82F6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57"/>
          <p:cNvSpPr/>
          <p:nvPr/>
        </p:nvSpPr>
        <p:spPr>
          <a:xfrm>
            <a:off x="592574" y="4481341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67" name="Text 58"/>
          <p:cNvSpPr/>
          <p:nvPr/>
        </p:nvSpPr>
        <p:spPr>
          <a:xfrm>
            <a:off x="878681" y="4516748"/>
            <a:ext cx="3529013" cy="148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675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Clean Separation</a:t>
            </a:r>
            <a:pPr algn="l" indent="0" marL="0">
              <a:lnSpc>
                <a:spcPts val="911"/>
              </a:lnSpc>
              <a:buNone/>
            </a:pPr>
            <a:r>
              <a:rPr lang="en-US" sz="675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UI, Kartenlogik und native Schnittstelle sauber getrennt.</a:t>
            </a:r>
            <a:endParaRPr lang="en-US" sz="675" dirty="0"/>
          </a:p>
        </p:txBody>
      </p:sp>
      <p:sp>
        <p:nvSpPr>
          <p:cNvPr id="68" name="Text 59"/>
          <p:cNvSpPr/>
          <p:nvPr/>
        </p:nvSpPr>
        <p:spPr>
          <a:xfrm>
            <a:off x="4618434" y="4392402"/>
            <a:ext cx="4064794" cy="364331"/>
          </a:xfrm>
          <a:prstGeom prst="roundRect">
            <a:avLst>
              <a:gd name="adj" fmla="val 31373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0"/>
          <p:cNvSpPr/>
          <p:nvPr/>
        </p:nvSpPr>
        <p:spPr>
          <a:xfrm>
            <a:off x="4736306" y="4467411"/>
            <a:ext cx="214313" cy="214313"/>
          </a:xfrm>
          <a:prstGeom prst="roundRect">
            <a:avLst>
              <a:gd name="adj" fmla="val 35555"/>
            </a:avLst>
          </a:prstGeom>
          <a:solidFill>
            <a:srgbClr val="22C55E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1"/>
          <p:cNvSpPr/>
          <p:nvPr/>
        </p:nvSpPr>
        <p:spPr>
          <a:xfrm>
            <a:off x="4750237" y="4481341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86EFA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71" name="Text 62"/>
          <p:cNvSpPr/>
          <p:nvPr/>
        </p:nvSpPr>
        <p:spPr>
          <a:xfrm>
            <a:off x="5036344" y="4516748"/>
            <a:ext cx="3529013" cy="148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675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Graceful Degradation</a:t>
            </a:r>
            <a:pPr algn="l" indent="0" marL="0">
              <a:lnSpc>
                <a:spcPts val="911"/>
              </a:lnSpc>
              <a:buNone/>
            </a:pPr>
            <a:r>
              <a:rPr lang="en-US" sz="675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automatische Fallbacks im Browser, voll nativ auf Android.</a:t>
            </a:r>
            <a:endParaRPr lang="en-US" sz="675" dirty="0"/>
          </a:p>
        </p:txBody>
      </p:sp>
      <p:sp>
        <p:nvSpPr>
          <p:cNvPr id="72" name="Text 63"/>
          <p:cNvSpPr/>
          <p:nvPr/>
        </p:nvSpPr>
        <p:spPr>
          <a:xfrm>
            <a:off x="457200" y="4919923"/>
            <a:ext cx="28575" cy="28575"/>
          </a:xfrm>
          <a:prstGeom prst="roundRect">
            <a:avLst>
              <a:gd name="adj" fmla="val 66667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64"/>
          <p:cNvSpPr/>
          <p:nvPr/>
        </p:nvSpPr>
        <p:spPr>
          <a:xfrm>
            <a:off x="457200" y="4868466"/>
            <a:ext cx="787285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SYSTEMARCHITEKTUR</a:t>
            </a:r>
            <a:endParaRPr lang="en-US" sz="800" dirty="0"/>
          </a:p>
        </p:txBody>
      </p:sp>
      <p:sp>
        <p:nvSpPr>
          <p:cNvPr id="74" name="Text 65"/>
          <p:cNvSpPr/>
          <p:nvPr/>
        </p:nvSpPr>
        <p:spPr>
          <a:xfrm>
            <a:off x="8344346" y="4868466"/>
            <a:ext cx="4975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08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75" y="-1285875"/>
            <a:ext cx="3429000" cy="3429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429375" y="-1285875"/>
            <a:ext cx="3429000" cy="3429000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57250" y="3143250"/>
            <a:ext cx="3286125" cy="3286125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-857250" y="3143250"/>
            <a:ext cx="3286125" cy="3286125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2"/>
          <p:cNvSpPr/>
          <p:nvPr/>
        </p:nvSpPr>
        <p:spPr>
          <a:xfrm>
            <a:off x="434340" y="387248"/>
            <a:ext cx="1081006" cy="243488"/>
          </a:xfrm>
          <a:prstGeom prst="roundRect">
            <a:avLst>
              <a:gd name="adj" fmla="val 3907985"/>
            </a:avLst>
          </a:prstGeom>
          <a:solidFill>
            <a:srgbClr val="3B82F6">
              <a:alpha val="18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3"/>
          <p:cNvSpPr/>
          <p:nvPr/>
        </p:nvSpPr>
        <p:spPr>
          <a:xfrm>
            <a:off x="457200" y="400050"/>
            <a:ext cx="103528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CAPACITOR 8 PLUGINS</a:t>
            </a:r>
            <a:endParaRPr lang="en-US" sz="800" dirty="0"/>
          </a:p>
        </p:txBody>
      </p:sp>
      <p:sp>
        <p:nvSpPr>
          <p:cNvPr id="10" name="Text 4"/>
          <p:cNvSpPr/>
          <p:nvPr/>
        </p:nvSpPr>
        <p:spPr>
          <a:xfrm>
            <a:off x="457200" y="689372"/>
            <a:ext cx="3899550" cy="3611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23"/>
              </a:lnSpc>
              <a:buNone/>
            </a:pPr>
            <a:r>
              <a:rPr lang="en-US" sz="2475" b="1" spc="-37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Die Plugins im Detail</a:t>
            </a:r>
            <a:endParaRPr lang="en-US" sz="2475" dirty="0"/>
          </a:p>
        </p:txBody>
      </p:sp>
      <p:sp>
        <p:nvSpPr>
          <p:cNvPr id="11" name="Text 5"/>
          <p:cNvSpPr/>
          <p:nvPr/>
        </p:nvSpPr>
        <p:spPr>
          <a:xfrm>
            <a:off x="457200" y="1077925"/>
            <a:ext cx="3713857" cy="17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Modulares Plugin-Ökosystem für native Funktionalitäten und Persistierung.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7106620" y="1125699"/>
            <a:ext cx="15801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619" spc="50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PLUGINS · 2 NATIVE · 2 FRONTEND</a:t>
            </a:r>
            <a:endParaRPr lang="en-US" sz="619" dirty="0"/>
          </a:p>
        </p:txBody>
      </p:sp>
      <p:sp>
        <p:nvSpPr>
          <p:cNvPr id="13" name="Text 7"/>
          <p:cNvSpPr/>
          <p:nvPr/>
        </p:nvSpPr>
        <p:spPr>
          <a:xfrm>
            <a:off x="460772" y="1375730"/>
            <a:ext cx="4043363" cy="1521619"/>
          </a:xfrm>
          <a:prstGeom prst="roundRect">
            <a:avLst>
              <a:gd name="adj" fmla="val 13772"/>
            </a:avLst>
          </a:prstGeom>
          <a:solidFill>
            <a:srgbClr val="FFFFFF">
              <a:alpha val="7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3388161" y="2450864"/>
            <a:ext cx="131464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4725" b="1" spc="-236" kern="0" dirty="0">
                <a:solidFill>
                  <a:srgbClr val="94A3B8">
                    <a:alpha val="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</a:t>
            </a:r>
            <a:endParaRPr lang="en-US" sz="4725" dirty="0"/>
          </a:p>
        </p:txBody>
      </p:sp>
      <p:sp>
        <p:nvSpPr>
          <p:cNvPr id="15" name="Text 9"/>
          <p:cNvSpPr/>
          <p:nvPr/>
        </p:nvSpPr>
        <p:spPr>
          <a:xfrm>
            <a:off x="635794" y="1579327"/>
            <a:ext cx="27146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93C5F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1125" dirty="0"/>
          </a:p>
        </p:txBody>
      </p:sp>
      <p:sp>
        <p:nvSpPr>
          <p:cNvPr id="16" name="Text 10"/>
          <p:cNvSpPr/>
          <p:nvPr/>
        </p:nvSpPr>
        <p:spPr>
          <a:xfrm>
            <a:off x="992981" y="1642170"/>
            <a:ext cx="2764631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spc="-5" kern="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@capacitor/geolocation</a:t>
            </a:r>
            <a:endParaRPr lang="en-US" sz="956" dirty="0"/>
          </a:p>
        </p:txBody>
      </p:sp>
      <p:sp>
        <p:nvSpPr>
          <p:cNvPr id="17" name="Text 11"/>
          <p:cNvSpPr/>
          <p:nvPr/>
        </p:nvSpPr>
        <p:spPr>
          <a:xfrm>
            <a:off x="635794" y="1893652"/>
            <a:ext cx="3693319" cy="164592"/>
          </a:xfrm>
          <a:prstGeom prst="rect">
            <a:avLst/>
          </a:prstGeom>
          <a:noFill/>
          <a:ln/>
        </p:spPr>
        <p:txBody>
          <a:bodyPr wrap="square" lIns="357188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3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com.capacitorjs.geolocation</a:t>
            </a:r>
            <a:endParaRPr lang="en-US" sz="800" dirty="0"/>
          </a:p>
        </p:txBody>
      </p:sp>
      <p:sp>
        <p:nvSpPr>
          <p:cNvPr id="18" name="Text 12"/>
          <p:cNvSpPr/>
          <p:nvPr/>
        </p:nvSpPr>
        <p:spPr>
          <a:xfrm>
            <a:off x="635794" y="2145469"/>
            <a:ext cx="3693319" cy="567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20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Zugriff auf GPS- und Netzwerk-Provider von Android (ACCESS_FINE_LOCATION).</a:t>
            </a:r>
            <a:endParaRPr lang="en-US" sz="800" dirty="0"/>
          </a:p>
          <a:p>
            <a:pPr algn="l" indent="0" marL="0">
              <a:lnSpc>
                <a:spcPts val="1020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20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Berechtigungsprüfung über checkPermissions und -anfrage über requestPermissions.</a:t>
            </a:r>
            <a:endParaRPr lang="en-US" sz="800" dirty="0"/>
          </a:p>
          <a:p>
            <a:pPr algn="l" indent="0" marL="0">
              <a:lnSpc>
                <a:spcPts val="1020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20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Native Positionsbestimmung mit konfigurierbarer Genauigkeit und Timeout.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4639866" y="1375730"/>
            <a:ext cx="4043363" cy="1521619"/>
          </a:xfrm>
          <a:prstGeom prst="roundRect">
            <a:avLst>
              <a:gd name="adj" fmla="val 13772"/>
            </a:avLst>
          </a:prstGeom>
          <a:solidFill>
            <a:srgbClr val="FFFFFF">
              <a:alpha val="7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7248146" y="2450864"/>
            <a:ext cx="16828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4725" b="1" spc="-236" kern="0" dirty="0">
                <a:solidFill>
                  <a:srgbClr val="94A3B8">
                    <a:alpha val="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</a:t>
            </a:r>
            <a:endParaRPr lang="en-US" sz="4725" dirty="0"/>
          </a:p>
        </p:txBody>
      </p:sp>
      <p:sp>
        <p:nvSpPr>
          <p:cNvPr id="21" name="Text 15"/>
          <p:cNvSpPr/>
          <p:nvPr/>
        </p:nvSpPr>
        <p:spPr>
          <a:xfrm>
            <a:off x="4814888" y="1579327"/>
            <a:ext cx="27146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86EFA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22" name="Text 16"/>
          <p:cNvSpPr/>
          <p:nvPr/>
        </p:nvSpPr>
        <p:spPr>
          <a:xfrm>
            <a:off x="5172075" y="1642170"/>
            <a:ext cx="2764631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spc="-5" kern="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@capacitor/preferences</a:t>
            </a:r>
            <a:endParaRPr lang="en-US" sz="956" dirty="0"/>
          </a:p>
        </p:txBody>
      </p:sp>
      <p:sp>
        <p:nvSpPr>
          <p:cNvPr id="23" name="Text 17"/>
          <p:cNvSpPr/>
          <p:nvPr/>
        </p:nvSpPr>
        <p:spPr>
          <a:xfrm>
            <a:off x="4814888" y="1893652"/>
            <a:ext cx="3693319" cy="164592"/>
          </a:xfrm>
          <a:prstGeom prst="rect">
            <a:avLst/>
          </a:prstGeom>
          <a:noFill/>
          <a:ln/>
        </p:spPr>
        <p:txBody>
          <a:bodyPr wrap="square" lIns="357188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3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com.capacitorjs.preferences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4814888" y="2145469"/>
            <a:ext cx="3693319" cy="567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86EFA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20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Asynchrone Key-Value-Persistierung, plattformübergreifend.</a:t>
            </a:r>
            <a:endParaRPr lang="en-US" sz="800" dirty="0"/>
          </a:p>
          <a:p>
            <a:pPr algn="l" indent="0" marL="0">
              <a:lnSpc>
                <a:spcPts val="1020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86EFA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20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Mappt unter Android auf SharedPreferences, im Browser auf localStorage.</a:t>
            </a:r>
            <a:endParaRPr lang="en-US" sz="800" dirty="0"/>
          </a:p>
          <a:p>
            <a:pPr algn="l" indent="0" marL="0">
              <a:lnSpc>
                <a:spcPts val="1020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86EFA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20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Speichert map-center und map-zoom bei jedem moveend-Event der Karte.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460772" y="3033080"/>
            <a:ext cx="4043363" cy="1521619"/>
          </a:xfrm>
          <a:prstGeom prst="roundRect">
            <a:avLst>
              <a:gd name="adj" fmla="val 13772"/>
            </a:avLst>
          </a:prstGeom>
          <a:solidFill>
            <a:srgbClr val="FFFFFF">
              <a:alpha val="7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3388161" y="4108214"/>
            <a:ext cx="131464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4725" b="1" spc="-236" kern="0" dirty="0">
                <a:solidFill>
                  <a:srgbClr val="94A3B8">
                    <a:alpha val="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endParaRPr lang="en-US" sz="4725" dirty="0"/>
          </a:p>
        </p:txBody>
      </p:sp>
      <p:sp>
        <p:nvSpPr>
          <p:cNvPr id="27" name="Text 21"/>
          <p:cNvSpPr/>
          <p:nvPr/>
        </p:nvSpPr>
        <p:spPr>
          <a:xfrm>
            <a:off x="635794" y="3236677"/>
            <a:ext cx="27146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C4B5F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125" dirty="0"/>
          </a:p>
        </p:txBody>
      </p:sp>
      <p:sp>
        <p:nvSpPr>
          <p:cNvPr id="28" name="Text 22"/>
          <p:cNvSpPr/>
          <p:nvPr/>
        </p:nvSpPr>
        <p:spPr>
          <a:xfrm>
            <a:off x="992981" y="3299520"/>
            <a:ext cx="2764631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spc="-5" kern="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@capawesome/capacitor-settings-launcher</a:t>
            </a:r>
            <a:endParaRPr lang="en-US" sz="956" dirty="0"/>
          </a:p>
        </p:txBody>
      </p:sp>
      <p:sp>
        <p:nvSpPr>
          <p:cNvPr id="29" name="Text 23"/>
          <p:cNvSpPr/>
          <p:nvPr/>
        </p:nvSpPr>
        <p:spPr>
          <a:xfrm>
            <a:off x="635794" y="3551002"/>
            <a:ext cx="3693319" cy="164592"/>
          </a:xfrm>
          <a:prstGeom prst="rect">
            <a:avLst/>
          </a:prstGeom>
          <a:noFill/>
          <a:ln/>
        </p:spPr>
        <p:txBody>
          <a:bodyPr wrap="square" lIns="357188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3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io.capawesome.plugins.settings-launcher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635794" y="3802819"/>
            <a:ext cx="3693319" cy="567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C4B5F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20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Direktes Öffnen der Android-App-Einstellungen per Intent.</a:t>
            </a:r>
            <a:endParaRPr lang="en-US" sz="800" dirty="0"/>
          </a:p>
          <a:p>
            <a:pPr algn="l" indent="0" marL="0">
              <a:lnSpc>
                <a:spcPts val="1020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C4B5F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20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Einsatz, wenn der Nutzer die Berechtigung dauerhaft verweigert hat ('Nicht mehr fragen').</a:t>
            </a:r>
            <a:endParaRPr lang="en-US" sz="800" dirty="0"/>
          </a:p>
          <a:p>
            <a:pPr algn="l" indent="0" marL="0">
              <a:lnSpc>
                <a:spcPts val="1020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C4B5F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20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Toast-Button leitet Nutzer zielgenau in die Systemeinstellungen.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4639866" y="3033080"/>
            <a:ext cx="4043363" cy="1521619"/>
          </a:xfrm>
          <a:prstGeom prst="roundRect">
            <a:avLst>
              <a:gd name="adj" fmla="val 13772"/>
            </a:avLst>
          </a:prstGeom>
          <a:solidFill>
            <a:srgbClr val="FFFFFF">
              <a:alpha val="7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7567255" y="4108214"/>
            <a:ext cx="131464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4725" b="1" spc="-236" kern="0" dirty="0">
                <a:solidFill>
                  <a:srgbClr val="94A3B8">
                    <a:alpha val="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endParaRPr lang="en-US" sz="4725" dirty="0"/>
          </a:p>
        </p:txBody>
      </p:sp>
      <p:sp>
        <p:nvSpPr>
          <p:cNvPr id="33" name="Text 27"/>
          <p:cNvSpPr/>
          <p:nvPr/>
        </p:nvSpPr>
        <p:spPr>
          <a:xfrm>
            <a:off x="4814888" y="3236677"/>
            <a:ext cx="27146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CD3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125" dirty="0"/>
          </a:p>
        </p:txBody>
      </p:sp>
      <p:sp>
        <p:nvSpPr>
          <p:cNvPr id="34" name="Text 28"/>
          <p:cNvSpPr/>
          <p:nvPr/>
        </p:nvSpPr>
        <p:spPr>
          <a:xfrm>
            <a:off x="5172075" y="3299520"/>
            <a:ext cx="2764631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spc="-5" kern="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@vue-leaflet/vue-leaflet &amp; leaflet</a:t>
            </a:r>
            <a:endParaRPr lang="en-US" sz="956" dirty="0"/>
          </a:p>
        </p:txBody>
      </p:sp>
      <p:sp>
        <p:nvSpPr>
          <p:cNvPr id="35" name="Text 29"/>
          <p:cNvSpPr/>
          <p:nvPr/>
        </p:nvSpPr>
        <p:spPr>
          <a:xfrm>
            <a:off x="4814888" y="3551002"/>
            <a:ext cx="3693319" cy="164592"/>
          </a:xfrm>
          <a:prstGeom prst="rect">
            <a:avLst/>
          </a:prstGeom>
          <a:noFill/>
          <a:ln/>
        </p:spPr>
        <p:txBody>
          <a:bodyPr wrap="square" lIns="357188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3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 kartenernderung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4814888" y="3802819"/>
            <a:ext cx="3693319" cy="567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CD3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20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Reaktive Vue-Komponenten: &lt;l-map&gt;, &lt;l-tile-layer&gt;, &lt;l-circle-marker&gt;.</a:t>
            </a:r>
            <a:endParaRPr lang="en-US" sz="800" dirty="0"/>
          </a:p>
          <a:p>
            <a:pPr algn="l" indent="0" marL="0">
              <a:lnSpc>
                <a:spcPts val="1020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CD3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20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Deklarative Bindung von Center, Zoom und Marker-State an Vue-Refs.</a:t>
            </a:r>
            <a:endParaRPr lang="en-US" sz="800" dirty="0"/>
          </a:p>
          <a:p>
            <a:pPr algn="l" indent="0" marL="0">
              <a:lnSpc>
                <a:spcPts val="1020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CD3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20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Direkte Anbindung an OpenStreetMap-Tile-Server ohne API-Key.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457200" y="4919923"/>
            <a:ext cx="28575" cy="28575"/>
          </a:xfrm>
          <a:prstGeom prst="roundRect">
            <a:avLst>
              <a:gd name="adj" fmla="val 66667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2"/>
          <p:cNvSpPr/>
          <p:nvPr/>
        </p:nvSpPr>
        <p:spPr>
          <a:xfrm>
            <a:off x="457200" y="4868466"/>
            <a:ext cx="787285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DIE PLUGINS IM DETAIL</a:t>
            </a:r>
            <a:endParaRPr lang="en-US" sz="800" dirty="0"/>
          </a:p>
        </p:txBody>
      </p:sp>
      <p:sp>
        <p:nvSpPr>
          <p:cNvPr id="39" name="Text 33"/>
          <p:cNvSpPr/>
          <p:nvPr/>
        </p:nvSpPr>
        <p:spPr>
          <a:xfrm>
            <a:off x="8344346" y="4868466"/>
            <a:ext cx="4975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08</a:t>
            </a:r>
            <a:endParaRPr lang="en-US" sz="800" dirty="0"/>
          </a:p>
        </p:txBody>
      </p:sp>
      <p:sp>
        <p:nvSpPr>
          <p:cNvPr id="40" name="Text 34"/>
          <p:cNvSpPr/>
          <p:nvPr/>
        </p:nvSpPr>
        <p:spPr>
          <a:xfrm>
            <a:off x="3969978" y="1482565"/>
            <a:ext cx="432295" cy="206026"/>
          </a:xfrm>
          <a:prstGeom prst="roundRect">
            <a:avLst>
              <a:gd name="adj" fmla="val 4618580"/>
            </a:avLst>
          </a:prstGeom>
          <a:solidFill>
            <a:srgbClr val="3B82F6">
              <a:alpha val="14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5"/>
          <p:cNvSpPr/>
          <p:nvPr/>
        </p:nvSpPr>
        <p:spPr>
          <a:xfrm>
            <a:off x="3914580" y="1493602"/>
            <a:ext cx="428793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spc="24" kern="0" dirty="0">
                <a:solidFill>
                  <a:srgbClr val="93C5F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v8.2.0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8149072" y="1482565"/>
            <a:ext cx="432295" cy="206026"/>
          </a:xfrm>
          <a:prstGeom prst="roundRect">
            <a:avLst>
              <a:gd name="adj" fmla="val 4618580"/>
            </a:avLst>
          </a:prstGeom>
          <a:solidFill>
            <a:srgbClr val="22C55E">
              <a:alpha val="14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7"/>
          <p:cNvSpPr/>
          <p:nvPr/>
        </p:nvSpPr>
        <p:spPr>
          <a:xfrm>
            <a:off x="8093673" y="1493602"/>
            <a:ext cx="428793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spc="24" kern="0" dirty="0">
                <a:solidFill>
                  <a:srgbClr val="86EFA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v8.0.1</a:t>
            </a:r>
            <a:endParaRPr lang="en-US" sz="800" dirty="0"/>
          </a:p>
        </p:txBody>
      </p:sp>
      <p:sp>
        <p:nvSpPr>
          <p:cNvPr id="44" name="Text 38"/>
          <p:cNvSpPr/>
          <p:nvPr/>
        </p:nvSpPr>
        <p:spPr>
          <a:xfrm>
            <a:off x="3969978" y="3139915"/>
            <a:ext cx="432295" cy="206026"/>
          </a:xfrm>
          <a:prstGeom prst="roundRect">
            <a:avLst>
              <a:gd name="adj" fmla="val 4618580"/>
            </a:avLst>
          </a:prstGeom>
          <a:solidFill>
            <a:srgbClr val="8B5CF6">
              <a:alpha val="14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9"/>
          <p:cNvSpPr/>
          <p:nvPr/>
        </p:nvSpPr>
        <p:spPr>
          <a:xfrm>
            <a:off x="3914580" y="3150952"/>
            <a:ext cx="428793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spc="24" kern="0" dirty="0">
                <a:solidFill>
                  <a:srgbClr val="C4B5F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v0.1.1</a:t>
            </a:r>
            <a:endParaRPr lang="en-US" sz="800" dirty="0"/>
          </a:p>
        </p:txBody>
      </p:sp>
      <p:sp>
        <p:nvSpPr>
          <p:cNvPr id="46" name="Text 40"/>
          <p:cNvSpPr/>
          <p:nvPr/>
        </p:nvSpPr>
        <p:spPr>
          <a:xfrm>
            <a:off x="8064794" y="3139915"/>
            <a:ext cx="519815" cy="206026"/>
          </a:xfrm>
          <a:prstGeom prst="roundRect">
            <a:avLst>
              <a:gd name="adj" fmla="val 4618580"/>
            </a:avLst>
          </a:prstGeom>
          <a:solidFill>
            <a:srgbClr val="F59E0B">
              <a:alpha val="14000"/>
            </a:srgbClr>
          </a:solidFill>
          <a:ln w="7144">
            <a:solidFill>
              <a:srgbClr val="F59E0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1"/>
          <p:cNvSpPr/>
          <p:nvPr/>
        </p:nvSpPr>
        <p:spPr>
          <a:xfrm>
            <a:off x="8000404" y="3150952"/>
            <a:ext cx="534294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spc="24" kern="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reactive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143750" y="-857250"/>
            <a:ext cx="2714625" cy="2714625"/>
          </a:xfrm>
          <a:prstGeom prst="ellipse">
            <a:avLst/>
          </a:prstGeom>
          <a:solidFill>
            <a:srgbClr val="EF4444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-571500" y="3429000"/>
            <a:ext cx="2428875" cy="2428875"/>
          </a:xfrm>
          <a:prstGeom prst="ellipse">
            <a:avLst/>
          </a:prstGeom>
          <a:solidFill>
            <a:srgbClr val="3B82F6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2"/>
          <p:cNvSpPr/>
          <p:nvPr/>
        </p:nvSpPr>
        <p:spPr>
          <a:xfrm>
            <a:off x="3857625" y="1661480"/>
            <a:ext cx="4822031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3857625" y="4154649"/>
            <a:ext cx="4822031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34340" y="387248"/>
            <a:ext cx="627266" cy="243488"/>
          </a:xfrm>
          <a:prstGeom prst="roundRect">
            <a:avLst>
              <a:gd name="adj" fmla="val 3907985"/>
            </a:avLst>
          </a:prstGeom>
          <a:solidFill>
            <a:srgbClr val="EF4444">
              <a:alpha val="18000"/>
            </a:srgbClr>
          </a:solidFill>
          <a:ln w="7144">
            <a:solidFill>
              <a:srgbClr val="EF4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457200" y="400050"/>
            <a:ext cx="58154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FCA5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DIVE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457200" y="675084"/>
            <a:ext cx="8636000" cy="37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3"/>
              </a:lnSpc>
              <a:buNone/>
            </a:pPr>
            <a:r>
              <a:rPr lang="en-US" sz="2475" b="1" spc="-25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Plugin-Migration zu </a:t>
            </a:r>
            <a:pPr algn="l" indent="0" marL="0">
              <a:lnSpc>
                <a:spcPts val="2723"/>
              </a:lnSpc>
              <a:buNone/>
            </a:pPr>
            <a:r>
              <a:rPr lang="en-US" sz="2475" b="1" spc="-25" kern="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@capgo/capacitor-nativegeocoder</a:t>
            </a:r>
            <a:endParaRPr lang="en-US" sz="2475" dirty="0"/>
          </a:p>
        </p:txBody>
      </p:sp>
      <p:sp>
        <p:nvSpPr>
          <p:cNvPr id="11" name="Text 7"/>
          <p:cNvSpPr/>
          <p:nvPr/>
        </p:nvSpPr>
        <p:spPr>
          <a:xfrm>
            <a:off x="457200" y="1077925"/>
            <a:ext cx="8229600" cy="17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Von proprietärem Token-Plugin zu 100 % lokalem, Open-Source-Geocoder.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60772" y="1404305"/>
            <a:ext cx="3214688" cy="798537"/>
          </a:xfrm>
          <a:prstGeom prst="roundRect">
            <a:avLst>
              <a:gd name="adj" fmla="val 1908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592931" y="1552538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14" name="Text 10"/>
          <p:cNvSpPr/>
          <p:nvPr/>
        </p:nvSpPr>
        <p:spPr>
          <a:xfrm>
            <a:off x="821531" y="1509375"/>
            <a:ext cx="793403" cy="243488"/>
          </a:xfrm>
          <a:prstGeom prst="roundRect">
            <a:avLst>
              <a:gd name="adj" fmla="val 390798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821531" y="1522177"/>
            <a:ext cx="79340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AUSGANGSLAGE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592931" y="1797211"/>
            <a:ext cx="2950369" cy="28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Frühere Nutzung von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@capawesome-team/capacitor-geocoder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im Build-Prozess.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460772" y="2309999"/>
            <a:ext cx="3214688" cy="942417"/>
          </a:xfrm>
          <a:prstGeom prst="roundRect">
            <a:avLst>
              <a:gd name="adj" fmla="val 16171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592931" y="245823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EF444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547" dirty="0"/>
          </a:p>
        </p:txBody>
      </p:sp>
      <p:sp>
        <p:nvSpPr>
          <p:cNvPr id="19" name="Text 15"/>
          <p:cNvSpPr/>
          <p:nvPr/>
        </p:nvSpPr>
        <p:spPr>
          <a:xfrm>
            <a:off x="821531" y="2415069"/>
            <a:ext cx="548506" cy="243488"/>
          </a:xfrm>
          <a:prstGeom prst="roundRect">
            <a:avLst>
              <a:gd name="adj" fmla="val 3907985"/>
            </a:avLst>
          </a:prstGeom>
          <a:solidFill>
            <a:srgbClr val="EF4444">
              <a:alpha val="18000"/>
            </a:srgbClr>
          </a:solidFill>
          <a:ln w="7144">
            <a:solidFill>
              <a:srgbClr val="EF4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821531" y="2427870"/>
            <a:ext cx="54850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FCA5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PROBLEM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592931" y="2702905"/>
            <a:ext cx="2950369" cy="431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Erforderte Lizenzschlüssel und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.npmrc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-Token. Die Aufgabenstellung verlangt eine rein lokale, standardkonforme Lösung ohne externe Accounts.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460772" y="3359572"/>
            <a:ext cx="3214688" cy="798537"/>
          </a:xfrm>
          <a:prstGeom prst="roundRect">
            <a:avLst>
              <a:gd name="adj" fmla="val 1908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592931" y="350780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22C55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24" name="Text 20"/>
          <p:cNvSpPr/>
          <p:nvPr/>
        </p:nvSpPr>
        <p:spPr>
          <a:xfrm>
            <a:off x="821531" y="3464642"/>
            <a:ext cx="498277" cy="243488"/>
          </a:xfrm>
          <a:prstGeom prst="roundRect">
            <a:avLst>
              <a:gd name="adj" fmla="val 3907985"/>
            </a:avLst>
          </a:prstGeom>
          <a:solidFill>
            <a:srgbClr val="22C55E">
              <a:alpha val="18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821531" y="3477444"/>
            <a:ext cx="49827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86EFA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LÖSUNG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592931" y="3752478"/>
            <a:ext cx="2950369" cy="28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Umstellung auf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@capgo/capacitor-nativegeocoder v8.0.42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nutzt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android.location.Geocoder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direkt on-device.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3854053" y="1404305"/>
            <a:ext cx="4829175" cy="3121819"/>
          </a:xfrm>
          <a:prstGeom prst="roundRect">
            <a:avLst>
              <a:gd name="adj" fmla="val 6712"/>
            </a:avLst>
          </a:prstGeom>
          <a:solidFill>
            <a:srgbClr val="FFFFFF">
              <a:alpha val="7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3857625" y="1407877"/>
            <a:ext cx="4822031" cy="25717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3971925" y="1490030"/>
            <a:ext cx="85725" cy="85725"/>
          </a:xfrm>
          <a:prstGeom prst="ellipse">
            <a:avLst/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4107656" y="1490030"/>
            <a:ext cx="85725" cy="85725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4243388" y="1490030"/>
            <a:ext cx="85725" cy="85725"/>
          </a:xfrm>
          <a:prstGeom prst="ellipse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5653329" y="1473957"/>
            <a:ext cx="29120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geocoder.ts — TypeScript Diff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3957638" y="1750777"/>
            <a:ext cx="4622006" cy="203597"/>
          </a:xfrm>
          <a:prstGeom prst="roundRect">
            <a:avLst>
              <a:gd name="adj" fmla="val 37427"/>
            </a:avLst>
          </a:prstGeom>
          <a:solidFill>
            <a:srgbClr val="EF444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4029075" y="1795425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4029075" y="179542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−</a:t>
            </a:r>
            <a:endParaRPr lang="en-US" sz="844" dirty="0"/>
          </a:p>
        </p:txBody>
      </p:sp>
      <p:sp>
        <p:nvSpPr>
          <p:cNvPr id="36" name="Text 32"/>
          <p:cNvSpPr/>
          <p:nvPr/>
        </p:nvSpPr>
        <p:spPr>
          <a:xfrm>
            <a:off x="4200525" y="1793639"/>
            <a:ext cx="4307681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VORHER · @capawesome-team/capacitor-geocoder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3916204" y="1982949"/>
            <a:ext cx="225743" cy="18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4157663" y="1982949"/>
            <a:ext cx="4421981" cy="18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E2E8F0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Geocoder } from "@capawesome-team/capacitor-geocoder";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3916204" y="2136093"/>
            <a:ext cx="225743" cy="18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4157663" y="2136093"/>
            <a:ext cx="4421981" cy="18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E2E8F0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 = await Geocoder.geocode({ address: query });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3916204" y="2289237"/>
            <a:ext cx="225743" cy="18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4157663" y="2289237"/>
            <a:ext cx="4631722" cy="18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E2E8F0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 = res.latitude; lng = res.longitude;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3957638" y="2542394"/>
            <a:ext cx="4622006" cy="203597"/>
          </a:xfrm>
          <a:prstGeom prst="roundRect">
            <a:avLst>
              <a:gd name="adj" fmla="val 37427"/>
            </a:avLst>
          </a:prstGeom>
          <a:solidFill>
            <a:srgbClr val="22C55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0"/>
          <p:cNvSpPr/>
          <p:nvPr/>
        </p:nvSpPr>
        <p:spPr>
          <a:xfrm>
            <a:off x="4029075" y="2587042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4029075" y="258704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＋</a:t>
            </a:r>
            <a:endParaRPr lang="en-US" sz="844" dirty="0"/>
          </a:p>
        </p:txBody>
      </p:sp>
      <p:sp>
        <p:nvSpPr>
          <p:cNvPr id="46" name="Text 42"/>
          <p:cNvSpPr/>
          <p:nvPr/>
        </p:nvSpPr>
        <p:spPr>
          <a:xfrm>
            <a:off x="4200525" y="2585256"/>
            <a:ext cx="4307681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NACHHER · @capgo/capacitor-nativegeocoder</a:t>
            </a:r>
            <a:endParaRPr lang="en-US" sz="800" dirty="0"/>
          </a:p>
        </p:txBody>
      </p:sp>
      <p:sp>
        <p:nvSpPr>
          <p:cNvPr id="47" name="Text 43"/>
          <p:cNvSpPr/>
          <p:nvPr/>
        </p:nvSpPr>
        <p:spPr>
          <a:xfrm>
            <a:off x="3914775" y="2774566"/>
            <a:ext cx="228600" cy="18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800" dirty="0"/>
          </a:p>
        </p:txBody>
      </p:sp>
      <p:sp>
        <p:nvSpPr>
          <p:cNvPr id="48" name="Text 44"/>
          <p:cNvSpPr/>
          <p:nvPr/>
        </p:nvSpPr>
        <p:spPr>
          <a:xfrm>
            <a:off x="4157663" y="2774566"/>
            <a:ext cx="4421981" cy="18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NativeGeocoder } from "@capgo/capacitor-nativegeocoder";</a:t>
            </a:r>
            <a:endParaRPr lang="en-US" sz="800" dirty="0"/>
          </a:p>
        </p:txBody>
      </p:sp>
      <p:sp>
        <p:nvSpPr>
          <p:cNvPr id="49" name="Text 45"/>
          <p:cNvSpPr/>
          <p:nvPr/>
        </p:nvSpPr>
        <p:spPr>
          <a:xfrm>
            <a:off x="3914775" y="2927710"/>
            <a:ext cx="228600" cy="18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800" dirty="0"/>
          </a:p>
        </p:txBody>
      </p:sp>
      <p:sp>
        <p:nvSpPr>
          <p:cNvPr id="50" name="Text 46"/>
          <p:cNvSpPr/>
          <p:nvPr/>
        </p:nvSpPr>
        <p:spPr>
          <a:xfrm>
            <a:off x="4157663" y="2927710"/>
            <a:ext cx="4421981" cy="18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 = await NativeGeocoder.forwardGeocode({ addressString: query });</a:t>
            </a:r>
            <a:endParaRPr lang="en-US" sz="800" dirty="0"/>
          </a:p>
        </p:txBody>
      </p:sp>
      <p:sp>
        <p:nvSpPr>
          <p:cNvPr id="51" name="Text 47"/>
          <p:cNvSpPr/>
          <p:nvPr/>
        </p:nvSpPr>
        <p:spPr>
          <a:xfrm>
            <a:off x="3914775" y="3080854"/>
            <a:ext cx="228600" cy="18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800" dirty="0"/>
          </a:p>
        </p:txBody>
      </p:sp>
      <p:sp>
        <p:nvSpPr>
          <p:cNvPr id="52" name="Text 48"/>
          <p:cNvSpPr/>
          <p:nvPr/>
        </p:nvSpPr>
        <p:spPr>
          <a:xfrm>
            <a:off x="4157663" y="3080854"/>
            <a:ext cx="4631722" cy="18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if (res.addresses?.length &gt; 0) {</a:t>
            </a:r>
            <a:endParaRPr lang="en-US" sz="800" dirty="0"/>
          </a:p>
        </p:txBody>
      </p:sp>
      <p:sp>
        <p:nvSpPr>
          <p:cNvPr id="53" name="Text 49"/>
          <p:cNvSpPr/>
          <p:nvPr/>
        </p:nvSpPr>
        <p:spPr>
          <a:xfrm>
            <a:off x="3914775" y="3233998"/>
            <a:ext cx="228600" cy="18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800" dirty="0"/>
          </a:p>
        </p:txBody>
      </p:sp>
      <p:sp>
        <p:nvSpPr>
          <p:cNvPr id="54" name="Text 50"/>
          <p:cNvSpPr/>
          <p:nvPr/>
        </p:nvSpPr>
        <p:spPr>
          <a:xfrm>
            <a:off x="4157663" y="3233998"/>
            <a:ext cx="4631722" cy="18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 = Number(res.addresses[0].latitude);</a:t>
            </a:r>
            <a:endParaRPr lang="en-US" sz="800" dirty="0"/>
          </a:p>
        </p:txBody>
      </p:sp>
      <p:sp>
        <p:nvSpPr>
          <p:cNvPr id="55" name="Text 51"/>
          <p:cNvSpPr/>
          <p:nvPr/>
        </p:nvSpPr>
        <p:spPr>
          <a:xfrm>
            <a:off x="3914775" y="3387142"/>
            <a:ext cx="228600" cy="18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800" dirty="0"/>
          </a:p>
        </p:txBody>
      </p:sp>
      <p:sp>
        <p:nvSpPr>
          <p:cNvPr id="56" name="Text 52"/>
          <p:cNvSpPr/>
          <p:nvPr/>
        </p:nvSpPr>
        <p:spPr>
          <a:xfrm>
            <a:off x="4157663" y="3387142"/>
            <a:ext cx="4631722" cy="18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lng = Number(res.addresses[0].longitude);</a:t>
            </a:r>
            <a:endParaRPr lang="en-US" sz="800" dirty="0"/>
          </a:p>
        </p:txBody>
      </p:sp>
      <p:sp>
        <p:nvSpPr>
          <p:cNvPr id="57" name="Text 53"/>
          <p:cNvSpPr/>
          <p:nvPr/>
        </p:nvSpPr>
        <p:spPr>
          <a:xfrm>
            <a:off x="3914775" y="3540286"/>
            <a:ext cx="228600" cy="18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800" dirty="0"/>
          </a:p>
        </p:txBody>
      </p:sp>
      <p:sp>
        <p:nvSpPr>
          <p:cNvPr id="58" name="Text 54"/>
          <p:cNvSpPr/>
          <p:nvPr/>
        </p:nvSpPr>
        <p:spPr>
          <a:xfrm>
            <a:off x="4157663" y="3540286"/>
            <a:ext cx="4521994" cy="18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59" name="Text 55"/>
          <p:cNvSpPr/>
          <p:nvPr/>
        </p:nvSpPr>
        <p:spPr>
          <a:xfrm>
            <a:off x="3857625" y="4151077"/>
            <a:ext cx="4822031" cy="371475"/>
          </a:xfrm>
          <a:prstGeom prst="rect">
            <a:avLst/>
          </a:prstGeom>
          <a:solidFill>
            <a:srgbClr val="22C55E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6"/>
          <p:cNvSpPr/>
          <p:nvPr/>
        </p:nvSpPr>
        <p:spPr>
          <a:xfrm>
            <a:off x="457200" y="4919923"/>
            <a:ext cx="28575" cy="28575"/>
          </a:xfrm>
          <a:prstGeom prst="roundRect">
            <a:avLst>
              <a:gd name="adj" fmla="val 66667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7"/>
          <p:cNvSpPr/>
          <p:nvPr/>
        </p:nvSpPr>
        <p:spPr>
          <a:xfrm>
            <a:off x="457200" y="4868466"/>
            <a:ext cx="78741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DIVE · PLUGIN-MIGRATION</a:t>
            </a:r>
            <a:endParaRPr lang="en-US" sz="800" dirty="0"/>
          </a:p>
        </p:txBody>
      </p:sp>
      <p:sp>
        <p:nvSpPr>
          <p:cNvPr id="62" name="Text 58"/>
          <p:cNvSpPr/>
          <p:nvPr/>
        </p:nvSpPr>
        <p:spPr>
          <a:xfrm>
            <a:off x="8345686" y="4868466"/>
            <a:ext cx="4955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08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143750" y="-714375"/>
            <a:ext cx="2571750" cy="2571750"/>
          </a:xfrm>
          <a:prstGeom prst="ellipse">
            <a:avLst/>
          </a:prstGeom>
          <a:solidFill>
            <a:srgbClr val="3B82F6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-571500" y="3714750"/>
            <a:ext cx="2286000" cy="2286000"/>
          </a:xfrm>
          <a:prstGeom prst="ellipse">
            <a:avLst/>
          </a:prstGeom>
          <a:solidFill>
            <a:srgbClr val="8B5CF6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434340" y="387248"/>
            <a:ext cx="991597" cy="243488"/>
          </a:xfrm>
          <a:prstGeom prst="roundRect">
            <a:avLst>
              <a:gd name="adj" fmla="val 3907985"/>
            </a:avLst>
          </a:prstGeom>
          <a:solidFill>
            <a:srgbClr val="3B82F6">
              <a:alpha val="18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457200" y="400050"/>
            <a:ext cx="94587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LIVE-DEMO · ~3 MIN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57200" y="675084"/>
            <a:ext cx="8636000" cy="373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23"/>
              </a:lnSpc>
              <a:buNone/>
            </a:pPr>
            <a:r>
              <a:rPr lang="en-US" sz="2475" b="1" spc="-25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Live-Demonstration</a:t>
            </a:r>
            <a:endParaRPr lang="en-US" sz="2475" dirty="0"/>
          </a:p>
        </p:txBody>
      </p:sp>
      <p:sp>
        <p:nvSpPr>
          <p:cNvPr id="9" name="Text 5"/>
          <p:cNvSpPr/>
          <p:nvPr/>
        </p:nvSpPr>
        <p:spPr>
          <a:xfrm>
            <a:off x="457200" y="1077925"/>
            <a:ext cx="8229600" cy="17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Choreographie der Demo-Schritte – vom App-Start über GPS und Geocoding bis zum Persistierungs-Test.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60772" y="1404305"/>
            <a:ext cx="1478756" cy="3150394"/>
          </a:xfrm>
          <a:prstGeom prst="roundRect">
            <a:avLst>
              <a:gd name="adj" fmla="val 14171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31" y="1565039"/>
            <a:ext cx="342900" cy="3429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92931" y="1565039"/>
            <a:ext cx="3857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1025128" y="1582899"/>
            <a:ext cx="307181" cy="307181"/>
          </a:xfrm>
          <a:prstGeom prst="roundRect">
            <a:avLst>
              <a:gd name="adj" fmla="val 37209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1023342" y="1581113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2109" dirty="0"/>
          </a:p>
        </p:txBody>
      </p:sp>
      <p:sp>
        <p:nvSpPr>
          <p:cNvPr id="15" name="Text 10"/>
          <p:cNvSpPr/>
          <p:nvPr/>
        </p:nvSpPr>
        <p:spPr>
          <a:xfrm>
            <a:off x="592931" y="2007952"/>
            <a:ext cx="1214438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Start der App</a:t>
            </a:r>
            <a:endParaRPr lang="en-US" sz="1238" dirty="0"/>
          </a:p>
        </p:txBody>
      </p:sp>
      <p:sp>
        <p:nvSpPr>
          <p:cNvPr id="16" name="Text 11"/>
          <p:cNvSpPr/>
          <p:nvPr/>
        </p:nvSpPr>
        <p:spPr>
          <a:xfrm>
            <a:off x="574509" y="2466638"/>
            <a:ext cx="497393" cy="243488"/>
          </a:xfrm>
          <a:prstGeom prst="roundRect">
            <a:avLst>
              <a:gd name="adj" fmla="val 390798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592931" y="2479439"/>
            <a:ext cx="460549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AKTION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592931" y="2783049"/>
            <a:ext cx="1287304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 im Emulator oder Browser öffnen.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592931" y="3170820"/>
            <a:ext cx="1214438" cy="7144"/>
          </a:xfrm>
          <a:prstGeom prst="rect">
            <a:avLst/>
          </a:prstGeom>
          <a:solidFill>
            <a:srgbClr val="94A3B8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570071" y="3265175"/>
            <a:ext cx="686872" cy="243488"/>
          </a:xfrm>
          <a:prstGeom prst="roundRect">
            <a:avLst>
              <a:gd name="adj" fmla="val 3907985"/>
            </a:avLst>
          </a:prstGeom>
          <a:solidFill>
            <a:srgbClr val="3B82F6">
              <a:alpha val="18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592931" y="3277977"/>
            <a:ext cx="641152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ERKLÄRUNG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592931" y="3581586"/>
            <a:ext cx="1287304" cy="50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Karte lädt auf der zuletzt gespeicherten Position – oder Berlin als Default.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1943100" y="148645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24" name="Text 19"/>
          <p:cNvSpPr/>
          <p:nvPr/>
        </p:nvSpPr>
        <p:spPr>
          <a:xfrm>
            <a:off x="2146697" y="1404305"/>
            <a:ext cx="1478756" cy="3150394"/>
          </a:xfrm>
          <a:prstGeom prst="roundRect">
            <a:avLst>
              <a:gd name="adj" fmla="val 14171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8856" y="1565039"/>
            <a:ext cx="342900" cy="3429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278856" y="1565039"/>
            <a:ext cx="3857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2711053" y="1582899"/>
            <a:ext cx="307181" cy="307181"/>
          </a:xfrm>
          <a:prstGeom prst="roundRect">
            <a:avLst>
              <a:gd name="adj" fmla="val 37209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2709267" y="1581113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22C55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2109" dirty="0"/>
          </a:p>
        </p:txBody>
      </p:sp>
      <p:sp>
        <p:nvSpPr>
          <p:cNvPr id="29" name="Text 23"/>
          <p:cNvSpPr/>
          <p:nvPr/>
        </p:nvSpPr>
        <p:spPr>
          <a:xfrm>
            <a:off x="2278856" y="2007952"/>
            <a:ext cx="1214438" cy="41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Interaktion &amp; Gesten</a:t>
            </a:r>
            <a:endParaRPr lang="en-US" sz="1238" dirty="0"/>
          </a:p>
        </p:txBody>
      </p:sp>
      <p:sp>
        <p:nvSpPr>
          <p:cNvPr id="30" name="Text 24"/>
          <p:cNvSpPr/>
          <p:nvPr/>
        </p:nvSpPr>
        <p:spPr>
          <a:xfrm>
            <a:off x="2260434" y="2466638"/>
            <a:ext cx="497393" cy="243488"/>
          </a:xfrm>
          <a:prstGeom prst="roundRect">
            <a:avLst>
              <a:gd name="adj" fmla="val 390798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5"/>
          <p:cNvSpPr/>
          <p:nvPr/>
        </p:nvSpPr>
        <p:spPr>
          <a:xfrm>
            <a:off x="2278856" y="2479439"/>
            <a:ext cx="460549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AKTION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2278856" y="2783049"/>
            <a:ext cx="1287304" cy="50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Verschieben der Karte (Pan) und Zoom via Doppelklick oder Gesten.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2278856" y="3314700"/>
            <a:ext cx="1214438" cy="7144"/>
          </a:xfrm>
          <a:prstGeom prst="rect">
            <a:avLst/>
          </a:prstGeom>
          <a:solidFill>
            <a:srgbClr val="94A3B8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2255996" y="3409055"/>
            <a:ext cx="686872" cy="243488"/>
          </a:xfrm>
          <a:prstGeom prst="roundRect">
            <a:avLst>
              <a:gd name="adj" fmla="val 3907985"/>
            </a:avLst>
          </a:prstGeom>
          <a:solidFill>
            <a:srgbClr val="3B82F6">
              <a:alpha val="18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9"/>
          <p:cNvSpPr/>
          <p:nvPr/>
        </p:nvSpPr>
        <p:spPr>
          <a:xfrm>
            <a:off x="2278856" y="3421856"/>
            <a:ext cx="641152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ERKLÄRUNG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2278856" y="3725466"/>
            <a:ext cx="1287304" cy="50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Zeigt flüssige Touch- und Maus-Gestensteuerung in der WebView.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3629025" y="148645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38" name="Text 32"/>
          <p:cNvSpPr/>
          <p:nvPr/>
        </p:nvSpPr>
        <p:spPr>
          <a:xfrm>
            <a:off x="3832622" y="1404305"/>
            <a:ext cx="1478756" cy="3150394"/>
          </a:xfrm>
          <a:prstGeom prst="roundRect">
            <a:avLst>
              <a:gd name="adj" fmla="val 14171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4781" y="1565039"/>
            <a:ext cx="342900" cy="34290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3964781" y="1565039"/>
            <a:ext cx="3857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800" dirty="0"/>
          </a:p>
        </p:txBody>
      </p:sp>
      <p:sp>
        <p:nvSpPr>
          <p:cNvPr id="41" name="Text 34"/>
          <p:cNvSpPr/>
          <p:nvPr/>
        </p:nvSpPr>
        <p:spPr>
          <a:xfrm>
            <a:off x="4396978" y="1582899"/>
            <a:ext cx="307181" cy="307181"/>
          </a:xfrm>
          <a:prstGeom prst="roundRect">
            <a:avLst>
              <a:gd name="adj" fmla="val 37209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5"/>
          <p:cNvSpPr/>
          <p:nvPr/>
        </p:nvSpPr>
        <p:spPr>
          <a:xfrm>
            <a:off x="4395192" y="1581113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2109" dirty="0"/>
          </a:p>
        </p:txBody>
      </p:sp>
      <p:sp>
        <p:nvSpPr>
          <p:cNvPr id="43" name="Text 36"/>
          <p:cNvSpPr/>
          <p:nvPr/>
        </p:nvSpPr>
        <p:spPr>
          <a:xfrm>
            <a:off x="3964781" y="2007952"/>
            <a:ext cx="1214438" cy="41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GPS-Ortung </a:t>
            </a:r>
            <a:pPr algn="l" indent="0" marL="0">
              <a:lnSpc>
                <a:spcPts val="1485"/>
              </a:lnSpc>
              <a:buNone/>
            </a:pPr>
            <a:r>
              <a:rPr lang="en-US" sz="1238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(Blau)</a:t>
            </a:r>
            <a:endParaRPr lang="en-US" sz="1238" dirty="0"/>
          </a:p>
        </p:txBody>
      </p:sp>
      <p:sp>
        <p:nvSpPr>
          <p:cNvPr id="44" name="Text 37"/>
          <p:cNvSpPr/>
          <p:nvPr/>
        </p:nvSpPr>
        <p:spPr>
          <a:xfrm>
            <a:off x="3946359" y="2466638"/>
            <a:ext cx="497393" cy="243488"/>
          </a:xfrm>
          <a:prstGeom prst="roundRect">
            <a:avLst>
              <a:gd name="adj" fmla="val 390798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8"/>
          <p:cNvSpPr/>
          <p:nvPr/>
        </p:nvSpPr>
        <p:spPr>
          <a:xfrm>
            <a:off x="3964781" y="2479439"/>
            <a:ext cx="460549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AKTION</a:t>
            </a:r>
            <a:endParaRPr lang="en-US" sz="800" dirty="0"/>
          </a:p>
        </p:txBody>
      </p:sp>
      <p:sp>
        <p:nvSpPr>
          <p:cNvPr id="46" name="Text 39"/>
          <p:cNvSpPr/>
          <p:nvPr/>
        </p:nvSpPr>
        <p:spPr>
          <a:xfrm>
            <a:off x="3964781" y="2783049"/>
            <a:ext cx="1287304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Klick auf den runden GPS-Button unten rechts.</a:t>
            </a:r>
            <a:endParaRPr lang="en-US" sz="800" dirty="0"/>
          </a:p>
        </p:txBody>
      </p:sp>
      <p:sp>
        <p:nvSpPr>
          <p:cNvPr id="47" name="Text 40"/>
          <p:cNvSpPr/>
          <p:nvPr/>
        </p:nvSpPr>
        <p:spPr>
          <a:xfrm>
            <a:off x="3964781" y="3170820"/>
            <a:ext cx="1214438" cy="7144"/>
          </a:xfrm>
          <a:prstGeom prst="rect">
            <a:avLst/>
          </a:prstGeom>
          <a:solidFill>
            <a:srgbClr val="94A3B8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1"/>
          <p:cNvSpPr/>
          <p:nvPr/>
        </p:nvSpPr>
        <p:spPr>
          <a:xfrm>
            <a:off x="3941921" y="3265175"/>
            <a:ext cx="686872" cy="243488"/>
          </a:xfrm>
          <a:prstGeom prst="roundRect">
            <a:avLst>
              <a:gd name="adj" fmla="val 3907985"/>
            </a:avLst>
          </a:prstGeom>
          <a:solidFill>
            <a:srgbClr val="3B82F6">
              <a:alpha val="18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2"/>
          <p:cNvSpPr/>
          <p:nvPr/>
        </p:nvSpPr>
        <p:spPr>
          <a:xfrm>
            <a:off x="3964781" y="3277977"/>
            <a:ext cx="641152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ERKLÄRUNG</a:t>
            </a:r>
            <a:endParaRPr lang="en-US" sz="800" dirty="0"/>
          </a:p>
        </p:txBody>
      </p:sp>
      <p:sp>
        <p:nvSpPr>
          <p:cNvPr id="50" name="Text 43"/>
          <p:cNvSpPr/>
          <p:nvPr/>
        </p:nvSpPr>
        <p:spPr>
          <a:xfrm>
            <a:off x="3964781" y="3581586"/>
            <a:ext cx="1287304" cy="679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Lade-Overlay erscheint. Karte fliegt per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setView(..., 16)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zum Standort. Blauer Kreismarker erscheint.</a:t>
            </a:r>
            <a:endParaRPr lang="en-US" sz="800" dirty="0"/>
          </a:p>
        </p:txBody>
      </p:sp>
      <p:sp>
        <p:nvSpPr>
          <p:cNvPr id="51" name="Text 44"/>
          <p:cNvSpPr/>
          <p:nvPr/>
        </p:nvSpPr>
        <p:spPr>
          <a:xfrm>
            <a:off x="5314950" y="148645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52" name="Text 45"/>
          <p:cNvSpPr/>
          <p:nvPr/>
        </p:nvSpPr>
        <p:spPr>
          <a:xfrm>
            <a:off x="5518547" y="1404305"/>
            <a:ext cx="1478756" cy="3150394"/>
          </a:xfrm>
          <a:prstGeom prst="roundRect">
            <a:avLst>
              <a:gd name="adj" fmla="val 14171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0706" y="1565039"/>
            <a:ext cx="342900" cy="342900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5650706" y="1565039"/>
            <a:ext cx="3857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1800" dirty="0"/>
          </a:p>
        </p:txBody>
      </p:sp>
      <p:sp>
        <p:nvSpPr>
          <p:cNvPr id="55" name="Text 47"/>
          <p:cNvSpPr/>
          <p:nvPr/>
        </p:nvSpPr>
        <p:spPr>
          <a:xfrm>
            <a:off x="6082903" y="1582899"/>
            <a:ext cx="307181" cy="307181"/>
          </a:xfrm>
          <a:prstGeom prst="roundRect">
            <a:avLst>
              <a:gd name="adj" fmla="val 37209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48"/>
          <p:cNvSpPr/>
          <p:nvPr/>
        </p:nvSpPr>
        <p:spPr>
          <a:xfrm>
            <a:off x="6081117" y="1581113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EF444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⌕</a:t>
            </a:r>
            <a:endParaRPr lang="en-US" sz="2109" dirty="0"/>
          </a:p>
        </p:txBody>
      </p:sp>
      <p:sp>
        <p:nvSpPr>
          <p:cNvPr id="57" name="Text 49"/>
          <p:cNvSpPr/>
          <p:nvPr/>
        </p:nvSpPr>
        <p:spPr>
          <a:xfrm>
            <a:off x="5650706" y="2007952"/>
            <a:ext cx="1214438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Adresssuche </a:t>
            </a:r>
            <a:pPr algn="l" indent="0" marL="0">
              <a:lnSpc>
                <a:spcPts val="1485"/>
              </a:lnSpc>
              <a:buNone/>
            </a:pPr>
            <a:r>
              <a:rPr lang="en-US" sz="1238" dirty="0">
                <a:solidFill>
                  <a:srgbClr val="FCA5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(Rot)</a:t>
            </a:r>
            <a:endParaRPr lang="en-US" sz="1238" dirty="0"/>
          </a:p>
        </p:txBody>
      </p:sp>
      <p:sp>
        <p:nvSpPr>
          <p:cNvPr id="58" name="Text 50"/>
          <p:cNvSpPr/>
          <p:nvPr/>
        </p:nvSpPr>
        <p:spPr>
          <a:xfrm>
            <a:off x="5632284" y="2466638"/>
            <a:ext cx="497393" cy="243488"/>
          </a:xfrm>
          <a:prstGeom prst="roundRect">
            <a:avLst>
              <a:gd name="adj" fmla="val 390798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1"/>
          <p:cNvSpPr/>
          <p:nvPr/>
        </p:nvSpPr>
        <p:spPr>
          <a:xfrm>
            <a:off x="5650706" y="2479439"/>
            <a:ext cx="460549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AKTION</a:t>
            </a:r>
            <a:endParaRPr lang="en-US" sz="800" dirty="0"/>
          </a:p>
        </p:txBody>
      </p:sp>
      <p:sp>
        <p:nvSpPr>
          <p:cNvPr id="60" name="Text 52"/>
          <p:cNvSpPr/>
          <p:nvPr/>
        </p:nvSpPr>
        <p:spPr>
          <a:xfrm>
            <a:off x="5650706" y="2783049"/>
            <a:ext cx="1287304" cy="50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Suchleiste oben: z.B. „Alexanderplatz Berlin" oder „Brandenburger Tor" + Enter.</a:t>
            </a:r>
            <a:endParaRPr lang="en-US" sz="800" dirty="0"/>
          </a:p>
        </p:txBody>
      </p:sp>
      <p:sp>
        <p:nvSpPr>
          <p:cNvPr id="61" name="Text 53"/>
          <p:cNvSpPr/>
          <p:nvPr/>
        </p:nvSpPr>
        <p:spPr>
          <a:xfrm>
            <a:off x="5650706" y="3314700"/>
            <a:ext cx="1214438" cy="7144"/>
          </a:xfrm>
          <a:prstGeom prst="rect">
            <a:avLst/>
          </a:prstGeom>
          <a:solidFill>
            <a:srgbClr val="94A3B8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4"/>
          <p:cNvSpPr/>
          <p:nvPr/>
        </p:nvSpPr>
        <p:spPr>
          <a:xfrm>
            <a:off x="5627846" y="3409055"/>
            <a:ext cx="686872" cy="243488"/>
          </a:xfrm>
          <a:prstGeom prst="roundRect">
            <a:avLst>
              <a:gd name="adj" fmla="val 3907985"/>
            </a:avLst>
          </a:prstGeom>
          <a:solidFill>
            <a:srgbClr val="3B82F6">
              <a:alpha val="18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55"/>
          <p:cNvSpPr/>
          <p:nvPr/>
        </p:nvSpPr>
        <p:spPr>
          <a:xfrm>
            <a:off x="5650706" y="3421856"/>
            <a:ext cx="641152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ERKLÄRUNG</a:t>
            </a:r>
            <a:endParaRPr lang="en-US" sz="800" dirty="0"/>
          </a:p>
        </p:txBody>
      </p:sp>
      <p:sp>
        <p:nvSpPr>
          <p:cNvPr id="64" name="Text 56"/>
          <p:cNvSpPr/>
          <p:nvPr/>
        </p:nvSpPr>
        <p:spPr>
          <a:xfrm>
            <a:off x="5650706" y="3725466"/>
            <a:ext cx="1287304" cy="679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Roter Kreismarker wird zusätzlich platziert. Beide Marker bleiben parallel sichtbar.</a:t>
            </a:r>
            <a:endParaRPr lang="en-US" sz="800" dirty="0"/>
          </a:p>
        </p:txBody>
      </p:sp>
      <p:sp>
        <p:nvSpPr>
          <p:cNvPr id="65" name="Text 57"/>
          <p:cNvSpPr/>
          <p:nvPr/>
        </p:nvSpPr>
        <p:spPr>
          <a:xfrm>
            <a:off x="7000875" y="148645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66" name="Text 58"/>
          <p:cNvSpPr/>
          <p:nvPr/>
        </p:nvSpPr>
        <p:spPr>
          <a:xfrm>
            <a:off x="7204472" y="1404305"/>
            <a:ext cx="1478756" cy="3150394"/>
          </a:xfrm>
          <a:prstGeom prst="roundRect">
            <a:avLst>
              <a:gd name="adj" fmla="val 14171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6631" y="1565039"/>
            <a:ext cx="342900" cy="342900"/>
          </a:xfrm>
          <a:prstGeom prst="rect">
            <a:avLst/>
          </a:prstGeom>
        </p:spPr>
      </p:pic>
      <p:sp>
        <p:nvSpPr>
          <p:cNvPr id="68" name="Text 59"/>
          <p:cNvSpPr/>
          <p:nvPr/>
        </p:nvSpPr>
        <p:spPr>
          <a:xfrm>
            <a:off x="7336631" y="1565039"/>
            <a:ext cx="3857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1800" dirty="0"/>
          </a:p>
        </p:txBody>
      </p:sp>
      <p:sp>
        <p:nvSpPr>
          <p:cNvPr id="69" name="Text 60"/>
          <p:cNvSpPr/>
          <p:nvPr/>
        </p:nvSpPr>
        <p:spPr>
          <a:xfrm>
            <a:off x="7768828" y="1582899"/>
            <a:ext cx="307181" cy="307181"/>
          </a:xfrm>
          <a:prstGeom prst="roundRect">
            <a:avLst>
              <a:gd name="adj" fmla="val 37209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1"/>
          <p:cNvSpPr/>
          <p:nvPr/>
        </p:nvSpPr>
        <p:spPr>
          <a:xfrm>
            <a:off x="7767042" y="1581113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⤓</a:t>
            </a:r>
            <a:endParaRPr lang="en-US" sz="2109" dirty="0"/>
          </a:p>
        </p:txBody>
      </p:sp>
      <p:sp>
        <p:nvSpPr>
          <p:cNvPr id="71" name="Text 62"/>
          <p:cNvSpPr/>
          <p:nvPr/>
        </p:nvSpPr>
        <p:spPr>
          <a:xfrm>
            <a:off x="7336631" y="2007952"/>
            <a:ext cx="1214438" cy="41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Persistierungs-Test</a:t>
            </a:r>
            <a:endParaRPr lang="en-US" sz="1238" dirty="0"/>
          </a:p>
        </p:txBody>
      </p:sp>
      <p:sp>
        <p:nvSpPr>
          <p:cNvPr id="72" name="Text 63"/>
          <p:cNvSpPr/>
          <p:nvPr/>
        </p:nvSpPr>
        <p:spPr>
          <a:xfrm>
            <a:off x="7318209" y="2466638"/>
            <a:ext cx="497393" cy="243488"/>
          </a:xfrm>
          <a:prstGeom prst="roundRect">
            <a:avLst>
              <a:gd name="adj" fmla="val 390798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64"/>
          <p:cNvSpPr/>
          <p:nvPr/>
        </p:nvSpPr>
        <p:spPr>
          <a:xfrm>
            <a:off x="7336631" y="2479439"/>
            <a:ext cx="460549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AKTION</a:t>
            </a:r>
            <a:endParaRPr lang="en-US" sz="800" dirty="0"/>
          </a:p>
        </p:txBody>
      </p:sp>
      <p:sp>
        <p:nvSpPr>
          <p:cNvPr id="74" name="Text 65"/>
          <p:cNvSpPr/>
          <p:nvPr/>
        </p:nvSpPr>
        <p:spPr>
          <a:xfrm>
            <a:off x="7336631" y="2783049"/>
            <a:ext cx="1287304" cy="50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Auf markanten Ort zoomen (Zoom 17), App neu laden bzw. neu starten.</a:t>
            </a:r>
            <a:endParaRPr lang="en-US" sz="800" dirty="0"/>
          </a:p>
        </p:txBody>
      </p:sp>
      <p:sp>
        <p:nvSpPr>
          <p:cNvPr id="75" name="Text 66"/>
          <p:cNvSpPr/>
          <p:nvPr/>
        </p:nvSpPr>
        <p:spPr>
          <a:xfrm>
            <a:off x="7336631" y="3314700"/>
            <a:ext cx="1214438" cy="7144"/>
          </a:xfrm>
          <a:prstGeom prst="rect">
            <a:avLst/>
          </a:prstGeom>
          <a:solidFill>
            <a:srgbClr val="94A3B8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67"/>
          <p:cNvSpPr/>
          <p:nvPr/>
        </p:nvSpPr>
        <p:spPr>
          <a:xfrm>
            <a:off x="7313771" y="3409055"/>
            <a:ext cx="686872" cy="243488"/>
          </a:xfrm>
          <a:prstGeom prst="roundRect">
            <a:avLst>
              <a:gd name="adj" fmla="val 3907985"/>
            </a:avLst>
          </a:prstGeom>
          <a:solidFill>
            <a:srgbClr val="3B82F6">
              <a:alpha val="18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68"/>
          <p:cNvSpPr/>
          <p:nvPr/>
        </p:nvSpPr>
        <p:spPr>
          <a:xfrm>
            <a:off x="7336631" y="3421856"/>
            <a:ext cx="641152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ERKLÄRUNG</a:t>
            </a:r>
            <a:endParaRPr lang="en-US" sz="800" dirty="0"/>
          </a:p>
        </p:txBody>
      </p:sp>
      <p:sp>
        <p:nvSpPr>
          <p:cNvPr id="78" name="Text 69"/>
          <p:cNvSpPr/>
          <p:nvPr/>
        </p:nvSpPr>
        <p:spPr>
          <a:xfrm>
            <a:off x="7336631" y="3725466"/>
            <a:ext cx="1287304" cy="50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Karte initialisiert exakt an derselben Position und Zoomstufe wieder.</a:t>
            </a:r>
            <a:endParaRPr lang="en-US" sz="800" dirty="0"/>
          </a:p>
        </p:txBody>
      </p:sp>
      <p:sp>
        <p:nvSpPr>
          <p:cNvPr id="79" name="Text 70"/>
          <p:cNvSpPr/>
          <p:nvPr/>
        </p:nvSpPr>
        <p:spPr>
          <a:xfrm>
            <a:off x="457200" y="4919923"/>
            <a:ext cx="28575" cy="28575"/>
          </a:xfrm>
          <a:prstGeom prst="roundRect">
            <a:avLst>
              <a:gd name="adj" fmla="val 66667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1"/>
          <p:cNvSpPr/>
          <p:nvPr/>
        </p:nvSpPr>
        <p:spPr>
          <a:xfrm>
            <a:off x="457200" y="4868466"/>
            <a:ext cx="78741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LIVE-DEMONSTRATION</a:t>
            </a:r>
            <a:endParaRPr lang="en-US" sz="800" dirty="0"/>
          </a:p>
        </p:txBody>
      </p:sp>
      <p:sp>
        <p:nvSpPr>
          <p:cNvPr id="81" name="Text 72"/>
          <p:cNvSpPr/>
          <p:nvPr/>
        </p:nvSpPr>
        <p:spPr>
          <a:xfrm>
            <a:off x="8345686" y="4868466"/>
            <a:ext cx="4955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08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000875" y="-857250"/>
            <a:ext cx="2714625" cy="2714625"/>
          </a:xfrm>
          <a:prstGeom prst="ellipse">
            <a:avLst/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-571500" y="3429000"/>
            <a:ext cx="2428875" cy="2428875"/>
          </a:xfrm>
          <a:prstGeom prst="ellipse">
            <a:avLst/>
          </a:prstGeom>
          <a:solidFill>
            <a:srgbClr val="22C55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434340" y="387248"/>
            <a:ext cx="726162" cy="243488"/>
          </a:xfrm>
          <a:prstGeom prst="roundRect">
            <a:avLst>
              <a:gd name="adj" fmla="val 3907985"/>
            </a:avLst>
          </a:prstGeom>
          <a:solidFill>
            <a:srgbClr val="EF4444">
              <a:alpha val="18000"/>
            </a:srgbClr>
          </a:solidFill>
          <a:ln w="7144">
            <a:solidFill>
              <a:srgbClr val="EF4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457200" y="400050"/>
            <a:ext cx="680442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FCA5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CHALLENGES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57200" y="675084"/>
            <a:ext cx="8636000" cy="37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3"/>
              </a:lnSpc>
              <a:buNone/>
            </a:pPr>
            <a:r>
              <a:rPr lang="en-US" sz="2475" b="1" spc="-25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Herausforderungen &amp; Problemlösungen</a:t>
            </a:r>
            <a:endParaRPr lang="en-US" sz="2475" dirty="0"/>
          </a:p>
        </p:txBody>
      </p:sp>
      <p:sp>
        <p:nvSpPr>
          <p:cNvPr id="9" name="Text 5"/>
          <p:cNvSpPr/>
          <p:nvPr/>
        </p:nvSpPr>
        <p:spPr>
          <a:xfrm>
            <a:off x="457200" y="1077925"/>
            <a:ext cx="8229600" cy="17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Vier typische Mobile-Web-GIS-Hürden und ihre konkreten Lösungen in der Codebasis.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60772" y="1404305"/>
            <a:ext cx="4050506" cy="1643063"/>
          </a:xfrm>
          <a:prstGeom prst="roundRect">
            <a:avLst>
              <a:gd name="adj" fmla="val 12754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39366" y="1568611"/>
            <a:ext cx="250031" cy="250031"/>
          </a:xfrm>
          <a:prstGeom prst="ellipse">
            <a:avLst/>
          </a:prstGeom>
          <a:solidFill>
            <a:srgbClr val="EF4444">
              <a:alpha val="18000"/>
            </a:srgbClr>
          </a:solidFill>
          <a:ln w="7144">
            <a:solidFill>
              <a:srgbClr val="EF4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635794" y="1565039"/>
            <a:ext cx="30718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CA5A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992981" y="1599307"/>
            <a:ext cx="3343275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spc="-6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Vite-Asset-Problem mit Leaflet-Icons</a:t>
            </a:r>
            <a:endParaRPr lang="en-US" sz="1238" dirty="0"/>
          </a:p>
        </p:txBody>
      </p:sp>
      <p:sp>
        <p:nvSpPr>
          <p:cNvPr id="14" name="Text 10"/>
          <p:cNvSpPr/>
          <p:nvPr/>
        </p:nvSpPr>
        <p:spPr>
          <a:xfrm>
            <a:off x="613854" y="1895138"/>
            <a:ext cx="592387" cy="243488"/>
          </a:xfrm>
          <a:prstGeom prst="roundRect">
            <a:avLst>
              <a:gd name="adj" fmla="val 3907985"/>
            </a:avLst>
          </a:prstGeom>
          <a:solidFill>
            <a:srgbClr val="EF4444">
              <a:alpha val="18000"/>
            </a:srgbClr>
          </a:solidFill>
          <a:ln w="7144">
            <a:solidFill>
              <a:srgbClr val="EF4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635794" y="1907939"/>
            <a:ext cx="54850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FCA5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PROBLEM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35794" y="2168686"/>
            <a:ext cx="3700463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Standard-PNG-Marker von Leaflet wurden von Vites Chunk-Bundler nicht gefunden (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404-Fehler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).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15863" y="2529369"/>
            <a:ext cx="538139" cy="243488"/>
          </a:xfrm>
          <a:prstGeom prst="roundRect">
            <a:avLst>
              <a:gd name="adj" fmla="val 3907985"/>
            </a:avLst>
          </a:prstGeom>
          <a:solidFill>
            <a:srgbClr val="22C55E">
              <a:alpha val="18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635794" y="2542170"/>
            <a:ext cx="498277" cy="2118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86EFA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LÖSUNG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635794" y="2781486"/>
            <a:ext cx="3700463" cy="105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Umstellung auf native SVG-basierte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&lt;l-circle-marker&gt;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mit dynamischen Farben (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F444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#EF4444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für Suche,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#3B82F6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für User).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4632722" y="1404305"/>
            <a:ext cx="4050506" cy="1643063"/>
          </a:xfrm>
          <a:prstGeom prst="roundRect">
            <a:avLst>
              <a:gd name="adj" fmla="val 12754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4811316" y="1568611"/>
            <a:ext cx="250031" cy="250031"/>
          </a:xfrm>
          <a:prstGeom prst="ellipse">
            <a:avLst/>
          </a:prstGeom>
          <a:solidFill>
            <a:srgbClr val="EF4444">
              <a:alpha val="18000"/>
            </a:srgbClr>
          </a:solidFill>
          <a:ln w="7144">
            <a:solidFill>
              <a:srgbClr val="EF4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4807744" y="1565039"/>
            <a:ext cx="30718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CA5A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5164931" y="1599307"/>
            <a:ext cx="3343275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spc="-6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Leaflet Container Sizing Bug</a:t>
            </a:r>
            <a:endParaRPr lang="en-US" sz="1238" dirty="0"/>
          </a:p>
        </p:txBody>
      </p:sp>
      <p:sp>
        <p:nvSpPr>
          <p:cNvPr id="24" name="Text 20"/>
          <p:cNvSpPr/>
          <p:nvPr/>
        </p:nvSpPr>
        <p:spPr>
          <a:xfrm>
            <a:off x="4785804" y="1895138"/>
            <a:ext cx="592387" cy="243488"/>
          </a:xfrm>
          <a:prstGeom prst="roundRect">
            <a:avLst>
              <a:gd name="adj" fmla="val 3907985"/>
            </a:avLst>
          </a:prstGeom>
          <a:solidFill>
            <a:srgbClr val="EF4444">
              <a:alpha val="18000"/>
            </a:srgbClr>
          </a:solidFill>
          <a:ln w="7144">
            <a:solidFill>
              <a:srgbClr val="EF4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4807744" y="1907939"/>
            <a:ext cx="54850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FCA5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PROBLEM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4807744" y="2168686"/>
            <a:ext cx="3700463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Bei schnellem Laden oder Initialisieren in WebViews blieb die Karte grau – Kacheln luden verzögert.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4787813" y="2529369"/>
            <a:ext cx="538139" cy="243488"/>
          </a:xfrm>
          <a:prstGeom prst="roundRect">
            <a:avLst>
              <a:gd name="adj" fmla="val 3907985"/>
            </a:avLst>
          </a:prstGeom>
          <a:solidFill>
            <a:srgbClr val="22C55E">
              <a:alpha val="18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4807744" y="2542170"/>
            <a:ext cx="498277" cy="1833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86EFA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LÖSUNG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4807744" y="2752911"/>
            <a:ext cx="3664744" cy="133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Gezielter Aufruf von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leafletMap.invalidateSize()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mit kurzem Timeout im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@ready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-Lifecycle-Hook.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460772" y="3168811"/>
            <a:ext cx="4050506" cy="1643063"/>
          </a:xfrm>
          <a:prstGeom prst="roundRect">
            <a:avLst>
              <a:gd name="adj" fmla="val 12754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639366" y="3333117"/>
            <a:ext cx="250031" cy="250031"/>
          </a:xfrm>
          <a:prstGeom prst="ellipse">
            <a:avLst/>
          </a:prstGeom>
          <a:solidFill>
            <a:srgbClr val="EF4444">
              <a:alpha val="18000"/>
            </a:srgbClr>
          </a:solidFill>
          <a:ln w="7144">
            <a:solidFill>
              <a:srgbClr val="EF4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635794" y="3329546"/>
            <a:ext cx="30718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CA5A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992981" y="3363813"/>
            <a:ext cx="3343275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spc="-6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Berechtigungs-Handling auf Android</a:t>
            </a:r>
            <a:endParaRPr lang="en-US" sz="1238" dirty="0"/>
          </a:p>
        </p:txBody>
      </p:sp>
      <p:sp>
        <p:nvSpPr>
          <p:cNvPr id="34" name="Text 30"/>
          <p:cNvSpPr/>
          <p:nvPr/>
        </p:nvSpPr>
        <p:spPr>
          <a:xfrm>
            <a:off x="613854" y="3659644"/>
            <a:ext cx="592387" cy="243488"/>
          </a:xfrm>
          <a:prstGeom prst="roundRect">
            <a:avLst>
              <a:gd name="adj" fmla="val 3907985"/>
            </a:avLst>
          </a:prstGeom>
          <a:solidFill>
            <a:srgbClr val="EF4444">
              <a:alpha val="18000"/>
            </a:srgbClr>
          </a:solidFill>
          <a:ln w="7144">
            <a:solidFill>
              <a:srgbClr val="EF4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635794" y="3672446"/>
            <a:ext cx="54850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FCA5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PROBLEM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635794" y="3933192"/>
            <a:ext cx="3700463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731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Wiederholte Berechtigungs-Dialoge blockieren die App, wenn der Nutzer verweigert.</a:t>
            </a:r>
            <a:endParaRPr lang="en-US" sz="731" dirty="0"/>
          </a:p>
        </p:txBody>
      </p:sp>
      <p:sp>
        <p:nvSpPr>
          <p:cNvPr id="37" name="Text 33"/>
          <p:cNvSpPr/>
          <p:nvPr/>
        </p:nvSpPr>
        <p:spPr>
          <a:xfrm>
            <a:off x="615863" y="4149995"/>
            <a:ext cx="538139" cy="243488"/>
          </a:xfrm>
          <a:prstGeom prst="roundRect">
            <a:avLst>
              <a:gd name="adj" fmla="val 3907985"/>
            </a:avLst>
          </a:prstGeom>
          <a:solidFill>
            <a:srgbClr val="22C55E">
              <a:alpha val="18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4"/>
          <p:cNvSpPr/>
          <p:nvPr/>
        </p:nvSpPr>
        <p:spPr>
          <a:xfrm>
            <a:off x="635794" y="4162797"/>
            <a:ext cx="498277" cy="1975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86EFA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LÖSUNG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635794" y="4387825"/>
            <a:ext cx="3700463" cy="263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Toast-Notification mit Deep-Link über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SettingsLauncher.openAppSettings()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– führt direkt in die Android-Systemeinstellungen.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4632722" y="3168811"/>
            <a:ext cx="4050506" cy="1643063"/>
          </a:xfrm>
          <a:prstGeom prst="roundRect">
            <a:avLst>
              <a:gd name="adj" fmla="val 12754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7"/>
          <p:cNvSpPr/>
          <p:nvPr/>
        </p:nvSpPr>
        <p:spPr>
          <a:xfrm>
            <a:off x="4811316" y="3333117"/>
            <a:ext cx="250031" cy="250031"/>
          </a:xfrm>
          <a:prstGeom prst="ellipse">
            <a:avLst/>
          </a:prstGeom>
          <a:solidFill>
            <a:srgbClr val="EF4444">
              <a:alpha val="18000"/>
            </a:srgbClr>
          </a:solidFill>
          <a:ln w="7144">
            <a:solidFill>
              <a:srgbClr val="EF4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8"/>
          <p:cNvSpPr/>
          <p:nvPr/>
        </p:nvSpPr>
        <p:spPr>
          <a:xfrm>
            <a:off x="4807744" y="3329546"/>
            <a:ext cx="30718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CA5A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5164931" y="3363813"/>
            <a:ext cx="3343275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spc="-6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Zoom-Verhalten im Android-Emulator</a:t>
            </a:r>
            <a:endParaRPr lang="en-US" sz="1238" dirty="0"/>
          </a:p>
        </p:txBody>
      </p:sp>
      <p:sp>
        <p:nvSpPr>
          <p:cNvPr id="44" name="Text 40"/>
          <p:cNvSpPr/>
          <p:nvPr/>
        </p:nvSpPr>
        <p:spPr>
          <a:xfrm>
            <a:off x="4785804" y="3659644"/>
            <a:ext cx="592387" cy="243488"/>
          </a:xfrm>
          <a:prstGeom prst="roundRect">
            <a:avLst>
              <a:gd name="adj" fmla="val 3907985"/>
            </a:avLst>
          </a:prstGeom>
          <a:solidFill>
            <a:srgbClr val="EF4444">
              <a:alpha val="18000"/>
            </a:srgbClr>
          </a:solidFill>
          <a:ln w="7144">
            <a:solidFill>
              <a:srgbClr val="EF4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4807744" y="3672446"/>
            <a:ext cx="54850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FCA5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PROBLEM</a:t>
            </a:r>
            <a:endParaRPr lang="en-US" sz="800" dirty="0"/>
          </a:p>
        </p:txBody>
      </p:sp>
      <p:sp>
        <p:nvSpPr>
          <p:cNvPr id="46" name="Text 42"/>
          <p:cNvSpPr/>
          <p:nvPr/>
        </p:nvSpPr>
        <p:spPr>
          <a:xfrm>
            <a:off x="4807744" y="3933192"/>
            <a:ext cx="3700463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Eingeschränkte Touch-Simulation erschwerte das Zoomen am Desktop während der Entwicklung.</a:t>
            </a:r>
            <a:endParaRPr lang="en-US" sz="800" dirty="0"/>
          </a:p>
        </p:txBody>
      </p:sp>
      <p:sp>
        <p:nvSpPr>
          <p:cNvPr id="47" name="Text 43"/>
          <p:cNvSpPr/>
          <p:nvPr/>
        </p:nvSpPr>
        <p:spPr>
          <a:xfrm>
            <a:off x="4787813" y="4293875"/>
            <a:ext cx="538139" cy="243488"/>
          </a:xfrm>
          <a:prstGeom prst="roundRect">
            <a:avLst>
              <a:gd name="adj" fmla="val 3907985"/>
            </a:avLst>
          </a:prstGeom>
          <a:solidFill>
            <a:srgbClr val="22C55E">
              <a:alpha val="18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4"/>
          <p:cNvSpPr/>
          <p:nvPr/>
        </p:nvSpPr>
        <p:spPr>
          <a:xfrm>
            <a:off x="4807744" y="4306677"/>
            <a:ext cx="498277" cy="2047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86EFA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LÖSUNG</a:t>
            </a:r>
            <a:endParaRPr lang="en-US" sz="800" dirty="0"/>
          </a:p>
        </p:txBody>
      </p:sp>
      <p:sp>
        <p:nvSpPr>
          <p:cNvPr id="49" name="Text 45"/>
          <p:cNvSpPr/>
          <p:nvPr/>
        </p:nvSpPr>
        <p:spPr>
          <a:xfrm>
            <a:off x="4807744" y="4538849"/>
            <a:ext cx="3686175" cy="112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Konfiguration von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mapOptions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mit Touch/Tap-Support und nativer Gestenerkennung für reibungslose Pinch-Zoom-Emulation.</a:t>
            </a:r>
            <a:endParaRPr lang="en-US" sz="800" dirty="0"/>
          </a:p>
        </p:txBody>
      </p:sp>
      <p:sp>
        <p:nvSpPr>
          <p:cNvPr id="50" name="Text 46"/>
          <p:cNvSpPr/>
          <p:nvPr/>
        </p:nvSpPr>
        <p:spPr>
          <a:xfrm>
            <a:off x="457200" y="4919923"/>
            <a:ext cx="28575" cy="28575"/>
          </a:xfrm>
          <a:prstGeom prst="roundRect">
            <a:avLst>
              <a:gd name="adj" fmla="val 66667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7"/>
          <p:cNvSpPr/>
          <p:nvPr/>
        </p:nvSpPr>
        <p:spPr>
          <a:xfrm>
            <a:off x="457200" y="4868466"/>
            <a:ext cx="78741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HERAUSFORDERUNGEN &amp; PROBLEMLÖSUNGEN</a:t>
            </a:r>
            <a:endParaRPr lang="en-US" sz="800" dirty="0"/>
          </a:p>
        </p:txBody>
      </p:sp>
      <p:sp>
        <p:nvSpPr>
          <p:cNvPr id="52" name="Text 48"/>
          <p:cNvSpPr/>
          <p:nvPr/>
        </p:nvSpPr>
        <p:spPr>
          <a:xfrm>
            <a:off x="8345686" y="4868466"/>
            <a:ext cx="4955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08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43625" y="-1571625"/>
            <a:ext cx="4286250" cy="4286250"/>
          </a:xfrm>
          <a:prstGeom prst="ellipse">
            <a:avLst/>
          </a:prstGeom>
          <a:solidFill>
            <a:srgbClr val="3B82F6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-1143000" y="2857500"/>
            <a:ext cx="3571875" cy="3571875"/>
          </a:xfrm>
          <a:prstGeom prst="ellipse">
            <a:avLst/>
          </a:prstGeom>
          <a:solidFill>
            <a:srgbClr val="8B5CF6">
              <a:alpha val="2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4363934" y="487261"/>
            <a:ext cx="416021" cy="243488"/>
          </a:xfrm>
          <a:prstGeom prst="roundRect">
            <a:avLst>
              <a:gd name="adj" fmla="val 3907985"/>
            </a:avLst>
          </a:prstGeom>
          <a:solidFill>
            <a:srgbClr val="3B82F6">
              <a:alpha val="18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4379342" y="500063"/>
            <a:ext cx="38520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FAZIT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274320" y="803672"/>
            <a:ext cx="8595248" cy="486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544"/>
              </a:lnSpc>
              <a:buNone/>
            </a:pPr>
            <a:r>
              <a:rPr lang="en-US" sz="3375" b="1" spc="-67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Eine App. Zwei Plattformen.</a:t>
            </a:r>
            <a:endParaRPr lang="en-US" sz="3375" dirty="0"/>
          </a:p>
        </p:txBody>
      </p:sp>
      <p:sp>
        <p:nvSpPr>
          <p:cNvPr id="9" name="Text 5"/>
          <p:cNvSpPr/>
          <p:nvPr/>
        </p:nvSpPr>
        <p:spPr>
          <a:xfrm>
            <a:off x="2379650" y="1339453"/>
            <a:ext cx="4384588" cy="220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9"/>
              </a:lnSpc>
              <a:buNone/>
            </a:pPr>
            <a:r>
              <a:rPr lang="en-US" sz="1238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Vollständig nativ auf Android, automatisch im Browser lauffähig.</a:t>
            </a:r>
            <a:endParaRPr lang="en-US" sz="1238" dirty="0"/>
          </a:p>
        </p:txBody>
      </p:sp>
      <p:sp>
        <p:nvSpPr>
          <p:cNvPr id="10" name="Text 6"/>
          <p:cNvSpPr/>
          <p:nvPr/>
        </p:nvSpPr>
        <p:spPr>
          <a:xfrm>
            <a:off x="853678" y="1804467"/>
            <a:ext cx="1778794" cy="921544"/>
          </a:xfrm>
          <a:prstGeom prst="roundRect">
            <a:avLst>
              <a:gd name="adj" fmla="val 22739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1610916" y="1857710"/>
            <a:ext cx="264319" cy="221456"/>
          </a:xfrm>
          <a:prstGeom prst="roundRect">
            <a:avLst>
              <a:gd name="adj" fmla="val 51613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1628775" y="1854138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22C55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2109" dirty="0"/>
          </a:p>
        </p:txBody>
      </p:sp>
      <p:sp>
        <p:nvSpPr>
          <p:cNvPr id="13" name="Text 9"/>
          <p:cNvSpPr/>
          <p:nvPr/>
        </p:nvSpPr>
        <p:spPr>
          <a:xfrm>
            <a:off x="1286232" y="2139888"/>
            <a:ext cx="913686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000125" y="2425638"/>
            <a:ext cx="1530477" cy="168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Grundanforderungen erfüllt &amp; getestet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2739628" y="1804467"/>
            <a:ext cx="1778794" cy="921544"/>
          </a:xfrm>
          <a:prstGeom prst="roundRect">
            <a:avLst>
              <a:gd name="adj" fmla="val 22739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3496866" y="1940198"/>
            <a:ext cx="264319" cy="253268"/>
          </a:xfrm>
          <a:prstGeom prst="roundRect">
            <a:avLst>
              <a:gd name="adj" fmla="val 45130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3498819" y="1936626"/>
            <a:ext cx="260412" cy="260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❄</a:t>
            </a:r>
            <a:endParaRPr lang="en-US" sz="2109" dirty="0"/>
          </a:p>
        </p:txBody>
      </p:sp>
      <p:sp>
        <p:nvSpPr>
          <p:cNvPr id="18" name="Text 14"/>
          <p:cNvSpPr/>
          <p:nvPr/>
        </p:nvSpPr>
        <p:spPr>
          <a:xfrm>
            <a:off x="3007093" y="2254188"/>
            <a:ext cx="1243753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1238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Android + Web</a:t>
            </a:r>
            <a:endParaRPr lang="en-US" sz="1238" dirty="0"/>
          </a:p>
        </p:txBody>
      </p:sp>
      <p:sp>
        <p:nvSpPr>
          <p:cNvPr id="19" name="Text 15"/>
          <p:cNvSpPr/>
          <p:nvPr/>
        </p:nvSpPr>
        <p:spPr>
          <a:xfrm>
            <a:off x="2886075" y="2468500"/>
            <a:ext cx="1531115" cy="12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7"/>
              </a:lnSpc>
              <a:buNone/>
            </a:pPr>
            <a:r>
              <a:rPr lang="en-US" sz="731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Cross-Platform aus einer Codebasis</a:t>
            </a:r>
            <a:endParaRPr lang="en-US" sz="731" dirty="0"/>
          </a:p>
        </p:txBody>
      </p:sp>
      <p:sp>
        <p:nvSpPr>
          <p:cNvPr id="20" name="Text 16"/>
          <p:cNvSpPr/>
          <p:nvPr/>
        </p:nvSpPr>
        <p:spPr>
          <a:xfrm>
            <a:off x="4625578" y="1804467"/>
            <a:ext cx="1778794" cy="921544"/>
          </a:xfrm>
          <a:prstGeom prst="roundRect">
            <a:avLst>
              <a:gd name="adj" fmla="val 22739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5382816" y="1893429"/>
            <a:ext cx="264319" cy="221456"/>
          </a:xfrm>
          <a:prstGeom prst="roundRect">
            <a:avLst>
              <a:gd name="adj" fmla="val 51613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5400675" y="1889857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2109" dirty="0"/>
          </a:p>
        </p:txBody>
      </p:sp>
      <p:sp>
        <p:nvSpPr>
          <p:cNvPr id="23" name="Text 19"/>
          <p:cNvSpPr/>
          <p:nvPr/>
        </p:nvSpPr>
        <p:spPr>
          <a:xfrm>
            <a:off x="5041404" y="2175607"/>
            <a:ext cx="947030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1238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On-Device</a:t>
            </a:r>
            <a:endParaRPr lang="en-US" sz="1238" dirty="0"/>
          </a:p>
        </p:txBody>
      </p:sp>
      <p:sp>
        <p:nvSpPr>
          <p:cNvPr id="24" name="Text 20"/>
          <p:cNvSpPr/>
          <p:nvPr/>
        </p:nvSpPr>
        <p:spPr>
          <a:xfrm>
            <a:off x="4772025" y="2389919"/>
            <a:ext cx="1485900" cy="203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Geocoding ohne Cloud, ohne API-Key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6511528" y="1804467"/>
            <a:ext cx="1778794" cy="921544"/>
          </a:xfrm>
          <a:prstGeom prst="roundRect">
            <a:avLst>
              <a:gd name="adj" fmla="val 22739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7268766" y="1956048"/>
            <a:ext cx="264319" cy="264319"/>
          </a:xfrm>
          <a:prstGeom prst="roundRect">
            <a:avLst>
              <a:gd name="adj" fmla="val 43243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7265194" y="1952476"/>
            <a:ext cx="27146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F59E0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2109" dirty="0"/>
          </a:p>
        </p:txBody>
      </p:sp>
      <p:sp>
        <p:nvSpPr>
          <p:cNvPr id="28" name="Text 24"/>
          <p:cNvSpPr/>
          <p:nvPr/>
        </p:nvSpPr>
        <p:spPr>
          <a:xfrm>
            <a:off x="6904817" y="2281089"/>
            <a:ext cx="992215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900" spc="18" kern="0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Vue 3 · TS · C8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6657975" y="2452539"/>
            <a:ext cx="1527137" cy="141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7"/>
              </a:lnSpc>
              <a:buNone/>
            </a:pPr>
            <a:r>
              <a:rPr lang="en-US" sz="731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Moderne Codebasis, zukunftssicher</a:t>
            </a:r>
            <a:endParaRPr lang="en-US" sz="731" dirty="0"/>
          </a:p>
        </p:txBody>
      </p:sp>
      <p:sp>
        <p:nvSpPr>
          <p:cNvPr id="30" name="Text 26"/>
          <p:cNvSpPr/>
          <p:nvPr/>
        </p:nvSpPr>
        <p:spPr>
          <a:xfrm>
            <a:off x="2003822" y="2933179"/>
            <a:ext cx="5136356" cy="921544"/>
          </a:xfrm>
          <a:prstGeom prst="roundRect">
            <a:avLst>
              <a:gd name="adj" fmla="val 22739"/>
            </a:avLst>
          </a:prstGeom>
          <a:solidFill>
            <a:srgbClr val="FFFFFF">
              <a:alpha val="7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2239566" y="3168923"/>
            <a:ext cx="450056" cy="450056"/>
          </a:xfrm>
          <a:prstGeom prst="ellipse">
            <a:avLst/>
          </a:prstGeom>
          <a:solidFill>
            <a:srgbClr val="3B82F6">
              <a:alpha val="18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2236708" y="3166065"/>
            <a:ext cx="455771" cy="455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94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3094" dirty="0"/>
          </a:p>
        </p:txBody>
      </p:sp>
      <p:sp>
        <p:nvSpPr>
          <p:cNvPr id="33" name="Text 29"/>
          <p:cNvSpPr/>
          <p:nvPr/>
        </p:nvSpPr>
        <p:spPr>
          <a:xfrm>
            <a:off x="2864644" y="3094025"/>
            <a:ext cx="3287637" cy="25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Fragen &amp; Antworten</a:t>
            </a:r>
            <a:endParaRPr lang="en-US" sz="1800" dirty="0"/>
          </a:p>
        </p:txBody>
      </p:sp>
      <p:sp>
        <p:nvSpPr>
          <p:cNvPr id="34" name="Text 30"/>
          <p:cNvSpPr/>
          <p:nvPr/>
        </p:nvSpPr>
        <p:spPr>
          <a:xfrm>
            <a:off x="2864644" y="3373971"/>
            <a:ext cx="3131083" cy="30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Vielen Dank für Ihre Aufmerksamkeit – wir freuen uns auf Ihre Fragen.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6144317" y="3257920"/>
            <a:ext cx="786549" cy="272063"/>
          </a:xfrm>
          <a:prstGeom prst="roundRect">
            <a:avLst>
              <a:gd name="adj" fmla="val 3497526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6167177" y="3270721"/>
            <a:ext cx="740829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Q&amp;A · ~5 MIN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457200" y="4919923"/>
            <a:ext cx="28575" cy="28575"/>
          </a:xfrm>
          <a:prstGeom prst="roundRect">
            <a:avLst>
              <a:gd name="adj" fmla="val 66667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4"/>
          <p:cNvSpPr/>
          <p:nvPr/>
        </p:nvSpPr>
        <p:spPr>
          <a:xfrm>
            <a:off x="457200" y="4868466"/>
            <a:ext cx="78741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FAZIT &amp; FRAGERUNDE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8345686" y="4868466"/>
            <a:ext cx="4955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08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2026-08-14T21:42:33Z</dcterms:created>
  <dcterms:modified xsi:type="dcterms:W3CDTF">2026-08-14T21:42:33Z</dcterms:modified>
</cp:coreProperties>
</file>
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22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 Stammer" userId="cb353ede9fed6110" providerId="LiveId" clId="{52E0793F-0C63-408E-803E-B7CB2D40E73D}"/>
    <pc:docChg chg="undo custSel modSld">
      <pc:chgData name="Tom Stammer" userId="cb353ede9fed6110" providerId="LiveId" clId="{52E0793F-0C63-408E-803E-B7CB2D40E73D}" dt="2026-07-29T11:20:56.393" v="18" actId="14100"/>
      <pc:docMkLst>
        <pc:docMk/>
      </pc:docMkLst>
      <pc:sldChg chg="modSp mod">
        <pc:chgData name="Tom Stammer" userId="cb353ede9fed6110" providerId="LiveId" clId="{52E0793F-0C63-408E-803E-B7CB2D40E73D}" dt="2026-07-27T14:59:36.268" v="2" actId="1076"/>
        <pc:sldMkLst>
          <pc:docMk/>
          <pc:sldMk cId="0" sldId="256"/>
        </pc:sldMkLst>
        <pc:spChg chg="mod">
          <ac:chgData name="Tom Stammer" userId="cb353ede9fed6110" providerId="LiveId" clId="{52E0793F-0C63-408E-803E-B7CB2D40E73D}" dt="2026-07-27T14:59:33.536" v="1" actId="1076"/>
          <ac:spMkLst>
            <pc:docMk/>
            <pc:sldMk cId="0" sldId="256"/>
            <ac:spMk id="20" creationId="{00000000-0000-0000-0000-000000000000}"/>
          </ac:spMkLst>
        </pc:spChg>
        <pc:spChg chg="mod">
          <ac:chgData name="Tom Stammer" userId="cb353ede9fed6110" providerId="LiveId" clId="{52E0793F-0C63-408E-803E-B7CB2D40E73D}" dt="2026-07-27T14:59:31.147" v="0" actId="1076"/>
          <ac:spMkLst>
            <pc:docMk/>
            <pc:sldMk cId="0" sldId="256"/>
            <ac:spMk id="23" creationId="{00000000-0000-0000-0000-000000000000}"/>
          </ac:spMkLst>
        </pc:spChg>
        <pc:spChg chg="mod">
          <ac:chgData name="Tom Stammer" userId="cb353ede9fed6110" providerId="LiveId" clId="{52E0793F-0C63-408E-803E-B7CB2D40E73D}" dt="2026-07-27T14:59:36.268" v="2" actId="1076"/>
          <ac:spMkLst>
            <pc:docMk/>
            <pc:sldMk cId="0" sldId="256"/>
            <ac:spMk id="26" creationId="{00000000-0000-0000-0000-000000000000}"/>
          </ac:spMkLst>
        </pc:spChg>
      </pc:sldChg>
      <pc:sldChg chg="modSp mod">
        <pc:chgData name="Tom Stammer" userId="cb353ede9fed6110" providerId="LiveId" clId="{52E0793F-0C63-408E-803E-B7CB2D40E73D}" dt="2026-07-27T14:59:58.545" v="5" actId="1076"/>
        <pc:sldMkLst>
          <pc:docMk/>
          <pc:sldMk cId="0" sldId="257"/>
        </pc:sldMkLst>
        <pc:spChg chg="mod">
          <ac:chgData name="Tom Stammer" userId="cb353ede9fed6110" providerId="LiveId" clId="{52E0793F-0C63-408E-803E-B7CB2D40E73D}" dt="2026-07-27T14:59:46.813" v="3" actId="1076"/>
          <ac:spMkLst>
            <pc:docMk/>
            <pc:sldMk cId="0" sldId="257"/>
            <ac:spMk id="10" creationId="{00000000-0000-0000-0000-000000000000}"/>
          </ac:spMkLst>
        </pc:spChg>
        <pc:spChg chg="mod">
          <ac:chgData name="Tom Stammer" userId="cb353ede9fed6110" providerId="LiveId" clId="{52E0793F-0C63-408E-803E-B7CB2D40E73D}" dt="2026-07-27T14:59:53.661" v="4" actId="1076"/>
          <ac:spMkLst>
            <pc:docMk/>
            <pc:sldMk cId="0" sldId="257"/>
            <ac:spMk id="12" creationId="{00000000-0000-0000-0000-000000000000}"/>
          </ac:spMkLst>
        </pc:spChg>
        <pc:spChg chg="mod">
          <ac:chgData name="Tom Stammer" userId="cb353ede9fed6110" providerId="LiveId" clId="{52E0793F-0C63-408E-803E-B7CB2D40E73D}" dt="2026-07-27T14:59:58.545" v="5" actId="1076"/>
          <ac:spMkLst>
            <pc:docMk/>
            <pc:sldMk cId="0" sldId="257"/>
            <ac:spMk id="29" creationId="{00000000-0000-0000-0000-000000000000}"/>
          </ac:spMkLst>
        </pc:spChg>
      </pc:sldChg>
      <pc:sldChg chg="delSp mod">
        <pc:chgData name="Tom Stammer" userId="cb353ede9fed6110" providerId="LiveId" clId="{52E0793F-0C63-408E-803E-B7CB2D40E73D}" dt="2026-07-27T15:00:10.729" v="7" actId="478"/>
        <pc:sldMkLst>
          <pc:docMk/>
          <pc:sldMk cId="0" sldId="259"/>
        </pc:sldMkLst>
      </pc:sldChg>
      <pc:sldChg chg="modSp mod">
        <pc:chgData name="Tom Stammer" userId="cb353ede9fed6110" providerId="LiveId" clId="{52E0793F-0C63-408E-803E-B7CB2D40E73D}" dt="2026-07-27T15:01:04.243" v="15" actId="1076"/>
        <pc:sldMkLst>
          <pc:docMk/>
          <pc:sldMk cId="0" sldId="260"/>
        </pc:sldMkLst>
        <pc:spChg chg="mod">
          <ac:chgData name="Tom Stammer" userId="cb353ede9fed6110" providerId="LiveId" clId="{52E0793F-0C63-408E-803E-B7CB2D40E73D}" dt="2026-07-27T15:01:04.243" v="15" actId="1076"/>
          <ac:spMkLst>
            <pc:docMk/>
            <pc:sldMk cId="0" sldId="260"/>
            <ac:spMk id="19" creationId="{00000000-0000-0000-0000-000000000000}"/>
          </ac:spMkLst>
        </pc:spChg>
        <pc:spChg chg="mod">
          <ac:chgData name="Tom Stammer" userId="cb353ede9fed6110" providerId="LiveId" clId="{52E0793F-0C63-408E-803E-B7CB2D40E73D}" dt="2026-07-27T15:01:04.243" v="15" actId="1076"/>
          <ac:spMkLst>
            <pc:docMk/>
            <pc:sldMk cId="0" sldId="260"/>
            <ac:spMk id="20" creationId="{00000000-0000-0000-0000-000000000000}"/>
          </ac:spMkLst>
        </pc:spChg>
        <pc:spChg chg="mod">
          <ac:chgData name="Tom Stammer" userId="cb353ede9fed6110" providerId="LiveId" clId="{52E0793F-0C63-408E-803E-B7CB2D40E73D}" dt="2026-07-27T15:01:04.243" v="15" actId="1076"/>
          <ac:spMkLst>
            <pc:docMk/>
            <pc:sldMk cId="0" sldId="260"/>
            <ac:spMk id="21" creationId="{00000000-0000-0000-0000-000000000000}"/>
          </ac:spMkLst>
        </pc:spChg>
      </pc:sldChg>
      <pc:sldChg chg="modSp mod">
        <pc:chgData name="Tom Stammer" userId="cb353ede9fed6110" providerId="LiveId" clId="{52E0793F-0C63-408E-803E-B7CB2D40E73D}" dt="2026-07-27T15:01:16.749" v="16" actId="14100"/>
        <pc:sldMkLst>
          <pc:docMk/>
          <pc:sldMk cId="0" sldId="261"/>
        </pc:sldMkLst>
        <pc:spChg chg="mod">
          <ac:chgData name="Tom Stammer" userId="cb353ede9fed6110" providerId="LiveId" clId="{52E0793F-0C63-408E-803E-B7CB2D40E73D}" dt="2026-07-27T15:01:16.749" v="16" actId="14100"/>
          <ac:spMkLst>
            <pc:docMk/>
            <pc:sldMk cId="0" sldId="261"/>
            <ac:spMk id="17" creationId="{00000000-0000-0000-0000-000000000000}"/>
          </ac:spMkLst>
        </pc:spChg>
      </pc:sldChg>
      <pc:sldChg chg="modSp mod">
        <pc:chgData name="Tom Stammer" userId="cb353ede9fed6110" providerId="LiveId" clId="{52E0793F-0C63-408E-803E-B7CB2D40E73D}" dt="2026-07-29T11:20:56.393" v="18" actId="14100"/>
        <pc:sldMkLst>
          <pc:docMk/>
          <pc:sldMk cId="0" sldId="264"/>
        </pc:sldMkLst>
        <pc:spChg chg="mod">
          <ac:chgData name="Tom Stammer" userId="cb353ede9fed6110" providerId="LiveId" clId="{52E0793F-0C63-408E-803E-B7CB2D40E73D}" dt="2026-07-29T11:20:54.208" v="17" actId="14100"/>
          <ac:spMkLst>
            <pc:docMk/>
            <pc:sldMk cId="0" sldId="264"/>
            <ac:spMk id="34" creationId="{00000000-0000-0000-0000-000000000000}"/>
          </ac:spMkLst>
        </pc:spChg>
        <pc:spChg chg="mod">
          <ac:chgData name="Tom Stammer" userId="cb353ede9fed6110" providerId="LiveId" clId="{52E0793F-0C63-408E-803E-B7CB2D40E73D}" dt="2026-07-29T11:20:56.393" v="18" actId="14100"/>
          <ac:spMkLst>
            <pc:docMk/>
            <pc:sldMk cId="0" sldId="264"/>
            <ac:spMk id="4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1358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Herzlich willkommen zu meiner Präsentation! Ich möchte Ihnen heute mein Abschlussprojekt vorstellen: Eine leistungsstarke, cross-platformfähige und reaktionsschnelle Karten-App. Ich zeige Ihnen kurz die Architektur und lade Sie anschließend zu einer interaktiven Live-Demo ein.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 mobilen Geodaten-Apps steht man oft vor der Wahl zwischen performanten Nativen-Apps und unkomplizierten Web-Lösungen. Ziel meiner Arbeit war es, die Stärken beider Welten in einem sauberen Hybridsatz zusammenzuführen.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Unser Stack setzt konsequent auf moderne Industriestandards: Durch die Vue 3 Composition API verwalten wir den State typsicher über TypeScript, während Capacitor 8 als native Brücke zwischen Web-Code und Hardware-Features dient.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architektonische Highlight ist die transparente Plattform-Weiche. Wenn die App merkt, dass sie unter Android läuft, nutzt sie native Systemressourcen. Kompiliert sie als Webanwendung, weicht sie geräuschlos auf Browser-APIs und freie REST-Schnittstellen aus, ohne dass der Anwender einen Unterschied spürt.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dieser Stelle möchte ich die Theorie verlassen und Ihnen live am laufenden System demonstrieren, wie reibungslos diese Bausteine ineinandergreifen.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Während der Entwicklung gab es spannende Herausforderungen. Die faszinierendste war ein Synchronisations-Konflikt zwischen dem deklarativen Vue-Reactivity-System und der imperativen Leaflet-Animationsqueue. Durch die konsequente Trennung von Initialzustand und imperativer setView()-Navigation löst die Karte heute bereits beim allerersten Klick punktgenau aus.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Eine weitere Lerneinheit betraf die Fehlertoleranz von externen Plugins im Browser. Statt auf fehlerhafte Web-Stub-Implementierungen zu vertrauen, prüfen wir die Umgebung proaktiv und senden im Web direkt optimierte REST-Abrufe an Nominatim.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Gerade in Uni-Projekten wird die Sicherheit von Zugangsdaten im Repository oft vernachlässigt. Da unser hybrides Geocoder-Plugin einen geheimen Autorisierungs-Key erfordert, habe ich die Staging-Pipeline von Beginn an über .gitignore hermetisch abgesichert und für Gutachter einen sicheren Einrichtungs-Leitfaden in der README ergänzt.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 Ende des Projekts stand eine lückenlose Verifikation: Unser Produktions-Build im Terminal zeigt 0 Fehler, und die Generierung der Android APK verlief über alle Abhängigkeiten hinweg absolut erfolgreich.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Zusammenfassend hat dieses Projekt gezeigt, wie elegant moderne Webtechnologien mit nativer Hardware kicken können — und das völlig ohne Vendor-Lockin für Kartenlizenzgebühren. Vielen Dank für Ihre Aufmerksamkeit! Ich freue mich nun auf Ihre Fragen!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-1285875" y="-1285875"/>
            <a:ext cx="4000500" cy="4000500"/>
          </a:xfrm>
          <a:prstGeom prst="ellipse">
            <a:avLst/>
          </a:prstGeom>
          <a:solidFill>
            <a:srgbClr val="38BDF8">
              <a:alpha val="18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6429375" y="2428875"/>
            <a:ext cx="4000500" cy="4000500"/>
          </a:xfrm>
          <a:prstGeom prst="ellipse">
            <a:avLst/>
          </a:prstGeom>
          <a:solidFill>
            <a:srgbClr val="10B98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2"/>
          <p:cNvSpPr/>
          <p:nvPr/>
        </p:nvSpPr>
        <p:spPr>
          <a:xfrm>
            <a:off x="514350" y="407194"/>
            <a:ext cx="257175" cy="0"/>
          </a:xfrm>
          <a:prstGeom prst="line">
            <a:avLst/>
          </a:prstGeom>
          <a:noFill/>
          <a:ln w="14288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3"/>
          <p:cNvSpPr/>
          <p:nvPr/>
        </p:nvSpPr>
        <p:spPr>
          <a:xfrm>
            <a:off x="521494" y="400050"/>
            <a:ext cx="0" cy="257175"/>
          </a:xfrm>
          <a:prstGeom prst="line">
            <a:avLst/>
          </a:prstGeom>
          <a:noFill/>
          <a:ln w="14288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4"/>
          <p:cNvSpPr/>
          <p:nvPr/>
        </p:nvSpPr>
        <p:spPr>
          <a:xfrm>
            <a:off x="8372475" y="407194"/>
            <a:ext cx="257175" cy="0"/>
          </a:xfrm>
          <a:prstGeom prst="line">
            <a:avLst/>
          </a:prstGeom>
          <a:noFill/>
          <a:ln w="14288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5"/>
          <p:cNvSpPr/>
          <p:nvPr/>
        </p:nvSpPr>
        <p:spPr>
          <a:xfrm>
            <a:off x="8622506" y="400050"/>
            <a:ext cx="0" cy="257175"/>
          </a:xfrm>
          <a:prstGeom prst="line">
            <a:avLst/>
          </a:prstGeom>
          <a:noFill/>
          <a:ln w="14288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6"/>
          <p:cNvSpPr/>
          <p:nvPr/>
        </p:nvSpPr>
        <p:spPr>
          <a:xfrm>
            <a:off x="514350" y="4736306"/>
            <a:ext cx="257175" cy="0"/>
          </a:xfrm>
          <a:prstGeom prst="line">
            <a:avLst/>
          </a:prstGeom>
          <a:noFill/>
          <a:ln w="14288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7"/>
          <p:cNvSpPr/>
          <p:nvPr/>
        </p:nvSpPr>
        <p:spPr>
          <a:xfrm>
            <a:off x="521494" y="4486275"/>
            <a:ext cx="0" cy="257175"/>
          </a:xfrm>
          <a:prstGeom prst="line">
            <a:avLst/>
          </a:prstGeom>
          <a:noFill/>
          <a:ln w="14288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Shape 8"/>
          <p:cNvSpPr/>
          <p:nvPr/>
        </p:nvSpPr>
        <p:spPr>
          <a:xfrm>
            <a:off x="8622506" y="4486275"/>
            <a:ext cx="0" cy="257175"/>
          </a:xfrm>
          <a:prstGeom prst="line">
            <a:avLst/>
          </a:prstGeom>
          <a:noFill/>
          <a:ln w="14288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9"/>
          <p:cNvSpPr/>
          <p:nvPr/>
        </p:nvSpPr>
        <p:spPr>
          <a:xfrm>
            <a:off x="8372475" y="4736306"/>
            <a:ext cx="257175" cy="0"/>
          </a:xfrm>
          <a:prstGeom prst="line">
            <a:avLst/>
          </a:prstGeom>
          <a:noFill/>
          <a:ln w="14288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0"/>
          <p:cNvSpPr/>
          <p:nvPr/>
        </p:nvSpPr>
        <p:spPr>
          <a:xfrm>
            <a:off x="3919597" y="1045794"/>
            <a:ext cx="1304806" cy="216402"/>
          </a:xfrm>
          <a:prstGeom prst="roundRect">
            <a:avLst>
              <a:gd name="adj" fmla="val 4397129"/>
            </a:avLst>
          </a:prstGeom>
          <a:solidFill>
            <a:srgbClr val="38BDF8">
              <a:alpha val="12000"/>
            </a:srgbClr>
          </a:solidFill>
          <a:ln w="7144">
            <a:solidFill>
              <a:srgbClr val="38BDF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4178201" y="1100249"/>
            <a:ext cx="930473" cy="139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59"/>
              </a:lnSpc>
              <a:buNone/>
            </a:pPr>
            <a:r>
              <a:rPr lang="en-US" sz="619" kern="0" spc="74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PROJEKTPRÄSENTATION</a:t>
            </a:r>
            <a:endParaRPr lang="en-US" sz="619" dirty="0"/>
          </a:p>
        </p:txBody>
      </p:sp>
      <p:sp>
        <p:nvSpPr>
          <p:cNvPr id="15" name="Text 12"/>
          <p:cNvSpPr/>
          <p:nvPr/>
        </p:nvSpPr>
        <p:spPr>
          <a:xfrm>
            <a:off x="4035326" y="1103933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84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◖</a:t>
            </a:r>
            <a:endParaRPr lang="en-US" sz="984" dirty="0"/>
          </a:p>
        </p:txBody>
      </p:sp>
      <p:sp>
        <p:nvSpPr>
          <p:cNvPr id="16" name="Text 13"/>
          <p:cNvSpPr/>
          <p:nvPr/>
        </p:nvSpPr>
        <p:spPr>
          <a:xfrm>
            <a:off x="274320" y="1450628"/>
            <a:ext cx="8595360" cy="1101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016"/>
              </a:lnSpc>
              <a:buNone/>
            </a:pPr>
            <a:r>
              <a:rPr lang="en-US" sz="3825" b="1" kern="0" spc="-76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Interaktive Karten-Applikation</a:t>
            </a:r>
            <a:endParaRPr lang="en-US" sz="3825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9100" y="2670646"/>
            <a:ext cx="685800" cy="28575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371600" y="2899246"/>
            <a:ext cx="6400800" cy="648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63"/>
              </a:lnSpc>
              <a:buNone/>
            </a:pPr>
            <a:r>
              <a:rPr lang="en-US" sz="1688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Hybride Android- und Web-App entworfen mit Vue 3, Leaflet &amp; Capacitor 8</a:t>
            </a:r>
            <a:endParaRPr lang="en-US" sz="1688" dirty="0"/>
          </a:p>
        </p:txBody>
      </p:sp>
      <p:sp>
        <p:nvSpPr>
          <p:cNvPr id="19" name="Text 15"/>
          <p:cNvSpPr/>
          <p:nvPr/>
        </p:nvSpPr>
        <p:spPr>
          <a:xfrm>
            <a:off x="3080742" y="3743695"/>
            <a:ext cx="793738" cy="355220"/>
          </a:xfrm>
          <a:prstGeom prst="roundRect">
            <a:avLst>
              <a:gd name="adj" fmla="val 2678755"/>
            </a:avLst>
          </a:prstGeom>
          <a:solidFill>
            <a:srgbClr val="FFFFFF">
              <a:alpha val="2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3216218" y="3838096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406" dirty="0"/>
          </a:p>
        </p:txBody>
      </p:sp>
      <p:sp>
        <p:nvSpPr>
          <p:cNvPr id="21" name="Text 17"/>
          <p:cNvSpPr/>
          <p:nvPr/>
        </p:nvSpPr>
        <p:spPr>
          <a:xfrm>
            <a:off x="3308873" y="3849365"/>
            <a:ext cx="401300" cy="143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133"/>
              </a:lnSpc>
              <a:buNone/>
            </a:pPr>
            <a:r>
              <a:rPr lang="en-US" sz="800" kern="0" spc="29" dirty="0">
                <a:solidFill>
                  <a:srgbClr val="E5E7E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Vue 3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3974492" y="3743695"/>
            <a:ext cx="893973" cy="355220"/>
          </a:xfrm>
          <a:prstGeom prst="roundRect">
            <a:avLst>
              <a:gd name="adj" fmla="val 2678755"/>
            </a:avLst>
          </a:prstGeom>
          <a:solidFill>
            <a:srgbClr val="FFFFFF">
              <a:alpha val="2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9"/>
          <p:cNvSpPr/>
          <p:nvPr/>
        </p:nvSpPr>
        <p:spPr>
          <a:xfrm>
            <a:off x="4076402" y="3859974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▣</a:t>
            </a:r>
            <a:endParaRPr lang="en-US" sz="1406" dirty="0"/>
          </a:p>
        </p:txBody>
      </p:sp>
      <p:sp>
        <p:nvSpPr>
          <p:cNvPr id="24" name="Text 20"/>
          <p:cNvSpPr/>
          <p:nvPr/>
        </p:nvSpPr>
        <p:spPr>
          <a:xfrm>
            <a:off x="4231100" y="3849365"/>
            <a:ext cx="483941" cy="143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133"/>
              </a:lnSpc>
              <a:buNone/>
            </a:pPr>
            <a:r>
              <a:rPr lang="en-US" sz="800" kern="0" spc="2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Leaflet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4968478" y="3743695"/>
            <a:ext cx="1094668" cy="355220"/>
          </a:xfrm>
          <a:prstGeom prst="roundRect">
            <a:avLst>
              <a:gd name="adj" fmla="val 2678755"/>
            </a:avLst>
          </a:prstGeom>
          <a:solidFill>
            <a:srgbClr val="FFFFFF">
              <a:alpha val="2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5108674" y="3849812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▯</a:t>
            </a:r>
            <a:endParaRPr lang="en-US" sz="1406" dirty="0"/>
          </a:p>
        </p:txBody>
      </p:sp>
      <p:sp>
        <p:nvSpPr>
          <p:cNvPr id="27" name="Text 23"/>
          <p:cNvSpPr/>
          <p:nvPr/>
        </p:nvSpPr>
        <p:spPr>
          <a:xfrm>
            <a:off x="5207170" y="3849365"/>
            <a:ext cx="716524" cy="143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133"/>
              </a:lnSpc>
              <a:buNone/>
            </a:pPr>
            <a:r>
              <a:rPr lang="en-US" sz="800" kern="0" spc="29" dirty="0">
                <a:solidFill>
                  <a:srgbClr val="E5E7E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Capacitor 8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8541246" y="157163"/>
            <a:ext cx="560939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800" kern="0" spc="111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 / 10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514350" y="4771020"/>
            <a:ext cx="3660949" cy="16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731" kern="0" spc="29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Dein Name | Modul / Abgabe Genz | Sechstes Semester | 27. Juli 2026</a:t>
            </a:r>
            <a:endParaRPr lang="en-US" sz="731" dirty="0"/>
          </a:p>
        </p:txBody>
      </p:sp>
      <p:sp>
        <p:nvSpPr>
          <p:cNvPr id="30" name="Text 26"/>
          <p:cNvSpPr/>
          <p:nvPr/>
        </p:nvSpPr>
        <p:spPr>
          <a:xfrm>
            <a:off x="7795171" y="4793121"/>
            <a:ext cx="1094185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800" kern="0" spc="111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DECK · 10 FOLIEN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4350" y="500063"/>
            <a:ext cx="342900" cy="28575"/>
          </a:xfrm>
          <a:prstGeom prst="roundRect">
            <a:avLst>
              <a:gd name="adj" fmla="val 66667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14350" y="628650"/>
            <a:ext cx="8629650" cy="390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46"/>
              </a:lnSpc>
              <a:buNone/>
            </a:pPr>
            <a:r>
              <a:rPr lang="en-US" sz="2475" b="1" kern="0" spc="-25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Zielsetzung &amp; Problemstellung</a:t>
            </a:r>
            <a:endParaRPr lang="en-US" sz="2475" dirty="0"/>
          </a:p>
        </p:txBody>
      </p:sp>
      <p:sp>
        <p:nvSpPr>
          <p:cNvPr id="4" name="Text 2"/>
          <p:cNvSpPr/>
          <p:nvPr/>
        </p:nvSpPr>
        <p:spPr>
          <a:xfrm>
            <a:off x="514350" y="1047229"/>
            <a:ext cx="8115300" cy="226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4"/>
              </a:lnSpc>
              <a:buNone/>
            </a:pPr>
            <a:r>
              <a:rPr lang="en-US" sz="1181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Die Wahl zwischen nativer Performance und web-basierter Flexibilität</a:t>
            </a:r>
            <a:endParaRPr lang="en-US" sz="1181" dirty="0"/>
          </a:p>
        </p:txBody>
      </p:sp>
      <p:sp>
        <p:nvSpPr>
          <p:cNvPr id="5" name="Text 3"/>
          <p:cNvSpPr/>
          <p:nvPr/>
        </p:nvSpPr>
        <p:spPr>
          <a:xfrm>
            <a:off x="514350" y="1457213"/>
            <a:ext cx="3943350" cy="2985195"/>
          </a:xfrm>
          <a:prstGeom prst="roundRect">
            <a:avLst>
              <a:gd name="adj" fmla="val 4467"/>
            </a:avLst>
          </a:prstGeom>
          <a:solidFill>
            <a:srgbClr val="252B3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14350" y="1471501"/>
            <a:ext cx="3943350" cy="0"/>
          </a:xfrm>
          <a:prstGeom prst="line">
            <a:avLst/>
          </a:prstGeom>
          <a:noFill/>
          <a:ln w="2857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4454128" y="1457213"/>
            <a:ext cx="0" cy="2985195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514350" y="4438836"/>
            <a:ext cx="3943350" cy="0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517922" y="1457213"/>
            <a:ext cx="0" cy="2985195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684371" y="1651578"/>
            <a:ext cx="715447" cy="216402"/>
          </a:xfrm>
          <a:prstGeom prst="roundRect">
            <a:avLst>
              <a:gd name="adj" fmla="val 4397129"/>
            </a:avLst>
          </a:prstGeom>
          <a:solidFill>
            <a:srgbClr val="EF4444">
              <a:alpha val="12000"/>
            </a:srgbClr>
          </a:solidFill>
          <a:ln w="7144">
            <a:solidFill>
              <a:srgbClr val="EF444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98565" y="1700101"/>
            <a:ext cx="429934" cy="139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619" kern="0" spc="74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619" dirty="0"/>
          </a:p>
        </p:txBody>
      </p:sp>
      <p:sp>
        <p:nvSpPr>
          <p:cNvPr id="12" name="Text 10"/>
          <p:cNvSpPr/>
          <p:nvPr/>
        </p:nvSpPr>
        <p:spPr>
          <a:xfrm>
            <a:off x="777239" y="1703784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84" dirty="0">
                <a:solidFill>
                  <a:srgbClr val="EF444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</a:t>
            </a:r>
            <a:endParaRPr lang="en-US" sz="984" dirty="0"/>
          </a:p>
        </p:txBody>
      </p:sp>
      <p:sp>
        <p:nvSpPr>
          <p:cNvPr id="13" name="Text 11"/>
          <p:cNvSpPr/>
          <p:nvPr/>
        </p:nvSpPr>
        <p:spPr>
          <a:xfrm>
            <a:off x="707231" y="1950467"/>
            <a:ext cx="3557588" cy="202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77"/>
              </a:lnSpc>
              <a:buNone/>
            </a:pPr>
            <a:r>
              <a:rPr lang="en-US" sz="118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Starre mobile Apps</a:t>
            </a:r>
            <a:endParaRPr lang="en-US" sz="1181" dirty="0"/>
          </a:p>
        </p:txBody>
      </p:sp>
      <p:sp>
        <p:nvSpPr>
          <p:cNvPr id="14" name="Text 12"/>
          <p:cNvSpPr/>
          <p:nvPr/>
        </p:nvSpPr>
        <p:spPr>
          <a:xfrm>
            <a:off x="707231" y="2195140"/>
            <a:ext cx="3557588" cy="592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Moderne mobile Kartenanwendungen benötigen nahtlose Hardware-Integration (GPS, lokaler Speicher), sollen aber auch flexibel im Web und als Fallback vorführbar sein.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07231" y="3581586"/>
            <a:ext cx="3557588" cy="0"/>
          </a:xfrm>
          <a:prstGeom prst="line">
            <a:avLst/>
          </a:prstGeom>
          <a:noFill/>
          <a:ln w="7144">
            <a:solidFill>
              <a:srgbClr val="3A4150"/>
            </a:solidFill>
            <a:prstDash val="dash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707231" y="3692314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EF444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1266" dirty="0"/>
          </a:p>
        </p:txBody>
      </p:sp>
      <p:sp>
        <p:nvSpPr>
          <p:cNvPr id="17" name="Text 15"/>
          <p:cNvSpPr/>
          <p:nvPr/>
        </p:nvSpPr>
        <p:spPr>
          <a:xfrm>
            <a:off x="921544" y="3685170"/>
            <a:ext cx="3343275" cy="159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0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Vendor-Lockin bei proprietären Karten-SDKs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07231" y="3913770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EF444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266" dirty="0"/>
          </a:p>
        </p:txBody>
      </p:sp>
      <p:sp>
        <p:nvSpPr>
          <p:cNvPr id="19" name="Text 17"/>
          <p:cNvSpPr/>
          <p:nvPr/>
        </p:nvSpPr>
        <p:spPr>
          <a:xfrm>
            <a:off x="921544" y="3906627"/>
            <a:ext cx="3343275" cy="159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0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Getrennte Codebasen für Web &amp; Native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07231" y="4135227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EF444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21" name="Text 19"/>
          <p:cNvSpPr/>
          <p:nvPr/>
        </p:nvSpPr>
        <p:spPr>
          <a:xfrm>
            <a:off x="921544" y="4128083"/>
            <a:ext cx="3343275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0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Verzögerte Animationen bei deklarativen Wrappern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686300" y="1457213"/>
            <a:ext cx="3943350" cy="2985195"/>
          </a:xfrm>
          <a:prstGeom prst="roundRect">
            <a:avLst>
              <a:gd name="adj" fmla="val 4467"/>
            </a:avLst>
          </a:prstGeom>
          <a:solidFill>
            <a:srgbClr val="252B3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686300" y="1471501"/>
            <a:ext cx="3943350" cy="0"/>
          </a:xfrm>
          <a:prstGeom prst="line">
            <a:avLst/>
          </a:prstGeom>
          <a:noFill/>
          <a:ln w="2857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8626078" y="1457213"/>
            <a:ext cx="0" cy="2985195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4686300" y="4438836"/>
            <a:ext cx="3943350" cy="0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Shape 24"/>
          <p:cNvSpPr/>
          <p:nvPr/>
        </p:nvSpPr>
        <p:spPr>
          <a:xfrm>
            <a:off x="4689872" y="1457213"/>
            <a:ext cx="0" cy="2985195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5"/>
          <p:cNvSpPr/>
          <p:nvPr/>
        </p:nvSpPr>
        <p:spPr>
          <a:xfrm>
            <a:off x="4856321" y="1645645"/>
            <a:ext cx="679170" cy="216402"/>
          </a:xfrm>
          <a:prstGeom prst="roundRect">
            <a:avLst>
              <a:gd name="adj" fmla="val 4397129"/>
            </a:avLst>
          </a:prstGeom>
          <a:solidFill>
            <a:srgbClr val="10B981">
              <a:alpha val="12000"/>
            </a:srgbClr>
          </a:solidFill>
          <a:ln w="7144">
            <a:solidFill>
              <a:srgbClr val="10B98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089003" y="1700101"/>
            <a:ext cx="356680" cy="139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619" kern="0" spc="74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LÖSUNG</a:t>
            </a:r>
            <a:endParaRPr lang="en-US" sz="619" dirty="0"/>
          </a:p>
        </p:txBody>
      </p:sp>
      <p:sp>
        <p:nvSpPr>
          <p:cNvPr id="29" name="Text 27"/>
          <p:cNvSpPr/>
          <p:nvPr/>
        </p:nvSpPr>
        <p:spPr>
          <a:xfrm>
            <a:off x="4950619" y="1703784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84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◆</a:t>
            </a:r>
            <a:endParaRPr lang="en-US" sz="984" dirty="0"/>
          </a:p>
        </p:txBody>
      </p:sp>
      <p:sp>
        <p:nvSpPr>
          <p:cNvPr id="30" name="Text 28"/>
          <p:cNvSpPr/>
          <p:nvPr/>
        </p:nvSpPr>
        <p:spPr>
          <a:xfrm>
            <a:off x="4879181" y="1950467"/>
            <a:ext cx="3557587" cy="202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77"/>
              </a:lnSpc>
              <a:buNone/>
            </a:pPr>
            <a:r>
              <a:rPr lang="en-US" sz="118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Hybride Vielfalt</a:t>
            </a:r>
            <a:endParaRPr lang="en-US" sz="1181" dirty="0"/>
          </a:p>
        </p:txBody>
      </p:sp>
      <p:sp>
        <p:nvSpPr>
          <p:cNvPr id="31" name="Text 29"/>
          <p:cNvSpPr/>
          <p:nvPr/>
        </p:nvSpPr>
        <p:spPr>
          <a:xfrm>
            <a:off x="4879181" y="2195140"/>
            <a:ext cx="3557588" cy="592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Ein einheitlicher Quellcode für natives Android (APK) und lokale Browser-Ausführung ohne Funktionsverlust. Elegantes, schnelles Design ohne Kompromisse bei der UX.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879181" y="3581586"/>
            <a:ext cx="3557588" cy="0"/>
          </a:xfrm>
          <a:prstGeom prst="line">
            <a:avLst/>
          </a:prstGeom>
          <a:noFill/>
          <a:ln w="7144">
            <a:solidFill>
              <a:srgbClr val="3A4150"/>
            </a:solidFill>
            <a:prstDash val="dash"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1"/>
          <p:cNvSpPr/>
          <p:nvPr/>
        </p:nvSpPr>
        <p:spPr>
          <a:xfrm>
            <a:off x="4879181" y="3692314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34" name="Text 32"/>
          <p:cNvSpPr/>
          <p:nvPr/>
        </p:nvSpPr>
        <p:spPr>
          <a:xfrm>
            <a:off x="5093494" y="3685170"/>
            <a:ext cx="3343275" cy="159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0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Vue 3 + TypeScript — typsicher &amp; modular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79181" y="3913770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❄</a:t>
            </a:r>
            <a:endParaRPr lang="en-US" sz="1266" dirty="0"/>
          </a:p>
        </p:txBody>
      </p:sp>
      <p:sp>
        <p:nvSpPr>
          <p:cNvPr id="36" name="Text 34"/>
          <p:cNvSpPr/>
          <p:nvPr/>
        </p:nvSpPr>
        <p:spPr>
          <a:xfrm>
            <a:off x="5093494" y="3906627"/>
            <a:ext cx="3343275" cy="159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0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Capacitor 8 als native Brücke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879181" y="4135227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⚡</a:t>
            </a:r>
            <a:endParaRPr lang="en-US" sz="1266" dirty="0"/>
          </a:p>
        </p:txBody>
      </p:sp>
      <p:sp>
        <p:nvSpPr>
          <p:cNvPr id="38" name="Text 36"/>
          <p:cNvSpPr/>
          <p:nvPr/>
        </p:nvSpPr>
        <p:spPr>
          <a:xfrm>
            <a:off x="5093494" y="4128083"/>
            <a:ext cx="3343275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0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Keine verzögerten Animationen, intuitive UX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14350" y="4599570"/>
            <a:ext cx="8115300" cy="16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33"/>
              </a:lnSpc>
              <a:buNone/>
            </a:pPr>
            <a:r>
              <a:rPr lang="en-US" sz="800" i="1" kern="0" spc="15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Ziel: Stärken beider Welten in einem sauberen Hybridsatz zusammenführen.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28600" y="157163"/>
            <a:ext cx="1137507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800" kern="0" spc="11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 &amp; LÖSUNG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8541246" y="157163"/>
            <a:ext cx="560939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800" kern="0" spc="111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 / 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4350" y="500063"/>
            <a:ext cx="342900" cy="28575"/>
          </a:xfrm>
          <a:prstGeom prst="roundRect">
            <a:avLst>
              <a:gd name="adj" fmla="val 66667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14350" y="628650"/>
            <a:ext cx="8521065" cy="3903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46"/>
              </a:lnSpc>
              <a:buNone/>
            </a:pPr>
            <a:r>
              <a:rPr lang="en-US" sz="2475" b="1" kern="0" spc="-25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Der Technologie-Stack</a:t>
            </a:r>
            <a:endParaRPr lang="en-US" sz="2475" dirty="0"/>
          </a:p>
        </p:txBody>
      </p:sp>
      <p:sp>
        <p:nvSpPr>
          <p:cNvPr id="4" name="Text 2"/>
          <p:cNvSpPr/>
          <p:nvPr/>
        </p:nvSpPr>
        <p:spPr>
          <a:xfrm>
            <a:off x="514350" y="1047229"/>
            <a:ext cx="8115300" cy="226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4"/>
              </a:lnSpc>
              <a:buNone/>
            </a:pPr>
            <a:r>
              <a:rPr lang="en-US" sz="1181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Moderne Industriestandards — typsicher, modular, performant</a:t>
            </a:r>
            <a:endParaRPr lang="en-US" sz="1181" dirty="0"/>
          </a:p>
        </p:txBody>
      </p:sp>
      <p:sp>
        <p:nvSpPr>
          <p:cNvPr id="5" name="Text 3"/>
          <p:cNvSpPr/>
          <p:nvPr/>
        </p:nvSpPr>
        <p:spPr>
          <a:xfrm>
            <a:off x="517922" y="1475073"/>
            <a:ext cx="1925241" cy="3264805"/>
          </a:xfrm>
          <a:prstGeom prst="roundRect">
            <a:avLst>
              <a:gd name="adj" fmla="val 6926"/>
            </a:avLst>
          </a:prstGeom>
          <a:solidFill>
            <a:srgbClr val="252B34"/>
          </a:solidFill>
          <a:ln w="7144">
            <a:solidFill>
              <a:srgbClr val="3A415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016493" y="1595639"/>
            <a:ext cx="305837" cy="216402"/>
          </a:xfrm>
          <a:prstGeom prst="roundRect">
            <a:avLst>
              <a:gd name="adj" fmla="val 4397129"/>
            </a:avLst>
          </a:prstGeom>
          <a:solidFill>
            <a:srgbClr val="38BDF8">
              <a:alpha val="12000"/>
            </a:srgbClr>
          </a:solidFill>
          <a:ln w="7144">
            <a:solidFill>
              <a:srgbClr val="38BDF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013533" y="1607232"/>
            <a:ext cx="283183" cy="193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59"/>
              </a:lnSpc>
              <a:buNone/>
            </a:pPr>
            <a:r>
              <a:rPr lang="en-US" sz="800" kern="0" spc="74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64369" y="1635807"/>
            <a:ext cx="400050" cy="400050"/>
          </a:xfrm>
          <a:prstGeom prst="ellipse">
            <a:avLst/>
          </a:prstGeom>
          <a:solidFill>
            <a:srgbClr val="38BDF8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09017" y="1680456"/>
            <a:ext cx="310753" cy="3107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9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2109" dirty="0"/>
          </a:p>
        </p:txBody>
      </p:sp>
      <p:sp>
        <p:nvSpPr>
          <p:cNvPr id="10" name="Text 8"/>
          <p:cNvSpPr/>
          <p:nvPr/>
        </p:nvSpPr>
        <p:spPr>
          <a:xfrm>
            <a:off x="664369" y="2164445"/>
            <a:ext cx="1632347" cy="194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18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Frontend</a:t>
            </a:r>
            <a:endParaRPr lang="en-US" sz="1181" dirty="0"/>
          </a:p>
        </p:txBody>
      </p:sp>
      <p:sp>
        <p:nvSpPr>
          <p:cNvPr id="11" name="Text 9"/>
          <p:cNvSpPr/>
          <p:nvPr/>
        </p:nvSpPr>
        <p:spPr>
          <a:xfrm>
            <a:off x="664369" y="2387240"/>
            <a:ext cx="1632347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00" kern="0" spc="29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Vue 3 + TypeScript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64369" y="2731145"/>
            <a:ext cx="200025" cy="14288"/>
          </a:xfrm>
          <a:prstGeom prst="roundRect">
            <a:avLst>
              <a:gd name="adj" fmla="val 66664"/>
            </a:avLst>
          </a:prstGeom>
          <a:solidFill>
            <a:srgbClr val="3A415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64369" y="2845445"/>
            <a:ext cx="1632347" cy="509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Vue 3 mit &lt;script setup&gt; und der Composition API. TypeScript für typsicheren und modularen Quellcode.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578894" y="1475073"/>
            <a:ext cx="1925241" cy="3264805"/>
          </a:xfrm>
          <a:prstGeom prst="roundRect">
            <a:avLst>
              <a:gd name="adj" fmla="val 6926"/>
            </a:avLst>
          </a:prstGeom>
          <a:solidFill>
            <a:srgbClr val="252B34"/>
          </a:solidFill>
          <a:ln w="7144">
            <a:solidFill>
              <a:srgbClr val="3A415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077465" y="1595639"/>
            <a:ext cx="305837" cy="216402"/>
          </a:xfrm>
          <a:prstGeom prst="roundRect">
            <a:avLst>
              <a:gd name="adj" fmla="val 4397129"/>
            </a:avLst>
          </a:prstGeom>
          <a:solidFill>
            <a:srgbClr val="38BDF8">
              <a:alpha val="12000"/>
            </a:srgbClr>
          </a:solidFill>
          <a:ln w="7144">
            <a:solidFill>
              <a:srgbClr val="38BDF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074505" y="1607232"/>
            <a:ext cx="283183" cy="193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59"/>
              </a:lnSpc>
              <a:buNone/>
            </a:pPr>
            <a:r>
              <a:rPr lang="en-US" sz="800" kern="0" spc="74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725341" y="1635807"/>
            <a:ext cx="400050" cy="400050"/>
          </a:xfrm>
          <a:prstGeom prst="ellipse">
            <a:avLst/>
          </a:prstGeom>
          <a:solidFill>
            <a:srgbClr val="38BDF8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769989" y="1680456"/>
            <a:ext cx="310753" cy="3107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9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⚡</a:t>
            </a:r>
            <a:endParaRPr lang="en-US" sz="2109" dirty="0"/>
          </a:p>
        </p:txBody>
      </p:sp>
      <p:sp>
        <p:nvSpPr>
          <p:cNvPr id="19" name="Text 17"/>
          <p:cNvSpPr/>
          <p:nvPr/>
        </p:nvSpPr>
        <p:spPr>
          <a:xfrm>
            <a:off x="2725341" y="2164445"/>
            <a:ext cx="1632347" cy="194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18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Build-Engine</a:t>
            </a:r>
            <a:endParaRPr lang="en-US" sz="1181" dirty="0"/>
          </a:p>
        </p:txBody>
      </p:sp>
      <p:sp>
        <p:nvSpPr>
          <p:cNvPr id="20" name="Text 18"/>
          <p:cNvSpPr/>
          <p:nvPr/>
        </p:nvSpPr>
        <p:spPr>
          <a:xfrm>
            <a:off x="2725341" y="2387240"/>
            <a:ext cx="1632347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00" kern="0" spc="29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Vite 8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25341" y="2731145"/>
            <a:ext cx="200025" cy="14288"/>
          </a:xfrm>
          <a:prstGeom prst="roundRect">
            <a:avLst>
              <a:gd name="adj" fmla="val 66664"/>
            </a:avLst>
          </a:prstGeom>
          <a:solidFill>
            <a:srgbClr val="3A415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725341" y="2845445"/>
            <a:ext cx="1632347" cy="509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Vite 8 für rasend schnelle Hot-Module-Replacement (HMR) Entwicklungs- und Compile-Zeiten.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639866" y="1475073"/>
            <a:ext cx="1925241" cy="3264805"/>
          </a:xfrm>
          <a:prstGeom prst="roundRect">
            <a:avLst>
              <a:gd name="adj" fmla="val 6926"/>
            </a:avLst>
          </a:prstGeom>
          <a:solidFill>
            <a:srgbClr val="252B34"/>
          </a:solidFill>
          <a:ln w="7144">
            <a:solidFill>
              <a:srgbClr val="3A415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138437" y="1595639"/>
            <a:ext cx="305837" cy="216402"/>
          </a:xfrm>
          <a:prstGeom prst="roundRect">
            <a:avLst>
              <a:gd name="adj" fmla="val 4397129"/>
            </a:avLst>
          </a:prstGeom>
          <a:solidFill>
            <a:srgbClr val="10B981">
              <a:alpha val="12000"/>
            </a:srgbClr>
          </a:solidFill>
          <a:ln w="7144">
            <a:solidFill>
              <a:srgbClr val="10B98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135477" y="1607232"/>
            <a:ext cx="283183" cy="193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59"/>
              </a:lnSpc>
              <a:buNone/>
            </a:pPr>
            <a:r>
              <a:rPr lang="en-US" sz="800" kern="0" spc="74" dirty="0">
                <a:solidFill>
                  <a:srgbClr val="10B981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86313" y="1635807"/>
            <a:ext cx="400050" cy="400050"/>
          </a:xfrm>
          <a:prstGeom prst="ellipse">
            <a:avLst/>
          </a:prstGeom>
          <a:solidFill>
            <a:srgbClr val="10B981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830961" y="1680456"/>
            <a:ext cx="310753" cy="3107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9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▣</a:t>
            </a:r>
            <a:endParaRPr lang="en-US" sz="2109" dirty="0"/>
          </a:p>
        </p:txBody>
      </p:sp>
      <p:sp>
        <p:nvSpPr>
          <p:cNvPr id="28" name="Text 26"/>
          <p:cNvSpPr/>
          <p:nvPr/>
        </p:nvSpPr>
        <p:spPr>
          <a:xfrm>
            <a:off x="4786313" y="2164445"/>
            <a:ext cx="1632347" cy="194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18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Karten-Engine</a:t>
            </a:r>
            <a:endParaRPr lang="en-US" sz="1181" dirty="0"/>
          </a:p>
        </p:txBody>
      </p:sp>
      <p:sp>
        <p:nvSpPr>
          <p:cNvPr id="29" name="Text 27"/>
          <p:cNvSpPr/>
          <p:nvPr/>
        </p:nvSpPr>
        <p:spPr>
          <a:xfrm>
            <a:off x="4786313" y="2387240"/>
            <a:ext cx="1632347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00" kern="0" spc="29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Leaflet + OSM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786313" y="2731145"/>
            <a:ext cx="200025" cy="14288"/>
          </a:xfrm>
          <a:prstGeom prst="roundRect">
            <a:avLst>
              <a:gd name="adj" fmla="val 66664"/>
            </a:avLst>
          </a:prstGeom>
          <a:solidFill>
            <a:srgbClr val="3A415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786313" y="2845445"/>
            <a:ext cx="1632347" cy="509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Leaflet &amp; OpenStreetMap (über @vue-leaflet/vue-leaflet) für leichtgewichtige Karten ohne teure API-Kosten.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00838" y="1475073"/>
            <a:ext cx="1925241" cy="3264805"/>
          </a:xfrm>
          <a:prstGeom prst="roundRect">
            <a:avLst>
              <a:gd name="adj" fmla="val 6926"/>
            </a:avLst>
          </a:prstGeom>
          <a:solidFill>
            <a:srgbClr val="252B34"/>
          </a:solidFill>
          <a:ln w="7144">
            <a:solidFill>
              <a:srgbClr val="3A415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8199409" y="1595639"/>
            <a:ext cx="305837" cy="216402"/>
          </a:xfrm>
          <a:prstGeom prst="roundRect">
            <a:avLst>
              <a:gd name="adj" fmla="val 4397129"/>
            </a:avLst>
          </a:prstGeom>
          <a:solidFill>
            <a:srgbClr val="10B981">
              <a:alpha val="12000"/>
            </a:srgbClr>
          </a:solidFill>
          <a:ln w="7144">
            <a:solidFill>
              <a:srgbClr val="10B98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196449" y="1607232"/>
            <a:ext cx="283183" cy="193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59"/>
              </a:lnSpc>
              <a:buNone/>
            </a:pPr>
            <a:r>
              <a:rPr lang="en-US" sz="800" kern="0" spc="74" dirty="0">
                <a:solidFill>
                  <a:srgbClr val="10B981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847284" y="1635807"/>
            <a:ext cx="400050" cy="400050"/>
          </a:xfrm>
          <a:prstGeom prst="ellipse">
            <a:avLst/>
          </a:prstGeom>
          <a:solidFill>
            <a:srgbClr val="10B981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891933" y="1680456"/>
            <a:ext cx="310753" cy="3107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9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▯</a:t>
            </a:r>
            <a:endParaRPr lang="en-US" sz="2109" dirty="0"/>
          </a:p>
        </p:txBody>
      </p:sp>
      <p:sp>
        <p:nvSpPr>
          <p:cNvPr id="37" name="Text 35"/>
          <p:cNvSpPr/>
          <p:nvPr/>
        </p:nvSpPr>
        <p:spPr>
          <a:xfrm>
            <a:off x="6847284" y="2164445"/>
            <a:ext cx="1632347" cy="194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18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Native Bridge</a:t>
            </a:r>
            <a:endParaRPr lang="en-US" sz="1181" dirty="0"/>
          </a:p>
        </p:txBody>
      </p:sp>
      <p:sp>
        <p:nvSpPr>
          <p:cNvPr id="38" name="Text 36"/>
          <p:cNvSpPr/>
          <p:nvPr/>
        </p:nvSpPr>
        <p:spPr>
          <a:xfrm>
            <a:off x="6847284" y="2387240"/>
            <a:ext cx="1632347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00" kern="0" spc="29" dirty="0">
                <a:solidFill>
                  <a:srgbClr val="10B981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Capacitor 8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847284" y="2731145"/>
            <a:ext cx="200025" cy="14288"/>
          </a:xfrm>
          <a:prstGeom prst="roundRect">
            <a:avLst>
              <a:gd name="adj" fmla="val 66664"/>
            </a:avLst>
          </a:prstGeom>
          <a:solidFill>
            <a:srgbClr val="3A415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847284" y="2845445"/>
            <a:ext cx="1632347" cy="509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Capacitor 8 zur Brückenbildung zwischen Web-JavaScript und den Android Betriebssystem-APIs.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28600" y="157163"/>
            <a:ext cx="1191221" cy="170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800" kern="0" spc="11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TECHNOLOGIE-STACK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541246" y="157163"/>
            <a:ext cx="560939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800" kern="0" spc="111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4350" y="500063"/>
            <a:ext cx="342900" cy="28575"/>
          </a:xfrm>
          <a:prstGeom prst="roundRect">
            <a:avLst>
              <a:gd name="adj" fmla="val 66667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14350" y="628650"/>
            <a:ext cx="8629650" cy="390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46"/>
              </a:lnSpc>
              <a:buNone/>
            </a:pPr>
            <a:r>
              <a:rPr lang="en-US" sz="2475" b="1" kern="0" spc="-25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Architektur &amp; Dual-Platform Weiche</a:t>
            </a:r>
            <a:endParaRPr lang="en-US" sz="2475" dirty="0"/>
          </a:p>
        </p:txBody>
      </p:sp>
      <p:sp>
        <p:nvSpPr>
          <p:cNvPr id="4" name="Text 2"/>
          <p:cNvSpPr/>
          <p:nvPr/>
        </p:nvSpPr>
        <p:spPr>
          <a:xfrm>
            <a:off x="514350" y="1047229"/>
            <a:ext cx="8115300" cy="226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4"/>
              </a:lnSpc>
              <a:buNone/>
            </a:pPr>
            <a:r>
              <a:rPr lang="en-US" sz="1181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Transparentes Routing — der Nutzer merkt keinen Unterschied</a:t>
            </a:r>
            <a:endParaRPr lang="en-US" sz="1181" dirty="0"/>
          </a:p>
        </p:txBody>
      </p:sp>
      <p:sp>
        <p:nvSpPr>
          <p:cNvPr id="5" name="Text 3"/>
          <p:cNvSpPr/>
          <p:nvPr/>
        </p:nvSpPr>
        <p:spPr>
          <a:xfrm>
            <a:off x="517922" y="1432210"/>
            <a:ext cx="2545519" cy="492919"/>
          </a:xfrm>
          <a:prstGeom prst="roundRect">
            <a:avLst>
              <a:gd name="adj" fmla="val 23188"/>
            </a:avLst>
          </a:prstGeom>
          <a:solidFill>
            <a:srgbClr val="252B34"/>
          </a:solidFill>
          <a:ln w="7144">
            <a:solidFill>
              <a:srgbClr val="3A415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35794" y="1592945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☞</a:t>
            </a:r>
            <a:endParaRPr lang="en-US" sz="1688" dirty="0"/>
          </a:p>
        </p:txBody>
      </p:sp>
      <p:sp>
        <p:nvSpPr>
          <p:cNvPr id="7" name="Text 5"/>
          <p:cNvSpPr/>
          <p:nvPr/>
        </p:nvSpPr>
        <p:spPr>
          <a:xfrm>
            <a:off x="892969" y="1552984"/>
            <a:ext cx="2052600" cy="143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1"/>
              </a:lnSpc>
              <a:buNone/>
            </a:pPr>
            <a:r>
              <a:rPr lang="en-US" sz="800" kern="0" spc="1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 Action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92969" y="1695078"/>
            <a:ext cx="1546305" cy="126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4"/>
              </a:lnSpc>
              <a:buNone/>
            </a:pPr>
            <a:r>
              <a:rPr lang="en-US" sz="619" kern="0" spc="37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Standort abrufen · Adresse suchen</a:t>
            </a:r>
            <a:endParaRPr lang="en-US" sz="619" dirty="0"/>
          </a:p>
        </p:txBody>
      </p:sp>
      <p:sp>
        <p:nvSpPr>
          <p:cNvPr id="9" name="Text 7"/>
          <p:cNvSpPr/>
          <p:nvPr/>
        </p:nvSpPr>
        <p:spPr>
          <a:xfrm>
            <a:off x="3067013" y="1556891"/>
            <a:ext cx="228600" cy="243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38" b="1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238" dirty="0"/>
          </a:p>
        </p:txBody>
      </p:sp>
      <p:sp>
        <p:nvSpPr>
          <p:cNvPr id="10" name="Text 8"/>
          <p:cNvSpPr/>
          <p:nvPr/>
        </p:nvSpPr>
        <p:spPr>
          <a:xfrm>
            <a:off x="3299185" y="1432210"/>
            <a:ext cx="2545631" cy="492919"/>
          </a:xfrm>
          <a:prstGeom prst="roundRect">
            <a:avLst>
              <a:gd name="adj" fmla="val 23188"/>
            </a:avLst>
          </a:prstGeom>
          <a:solidFill>
            <a:srgbClr val="252B34"/>
          </a:solidFill>
          <a:ln w="7144">
            <a:solidFill>
              <a:srgbClr val="3A415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417057" y="1592945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☎</a:t>
            </a:r>
            <a:endParaRPr lang="en-US" sz="1688" dirty="0"/>
          </a:p>
        </p:txBody>
      </p:sp>
      <p:sp>
        <p:nvSpPr>
          <p:cNvPr id="12" name="Text 10"/>
          <p:cNvSpPr/>
          <p:nvPr/>
        </p:nvSpPr>
        <p:spPr>
          <a:xfrm>
            <a:off x="3674232" y="1552984"/>
            <a:ext cx="2059856" cy="143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51"/>
              </a:lnSpc>
              <a:buNone/>
            </a:pPr>
            <a:r>
              <a:rPr lang="en-US" sz="800" kern="0" spc="1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Capacitor.getPlatform()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74232" y="1695078"/>
            <a:ext cx="1330760" cy="126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4"/>
              </a:lnSpc>
              <a:buNone/>
            </a:pPr>
            <a:r>
              <a:rPr lang="en-US" sz="619" kern="0" spc="37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Laufzeit-Plattform-Erkennung</a:t>
            </a:r>
            <a:endParaRPr lang="en-US" sz="619" dirty="0"/>
          </a:p>
        </p:txBody>
      </p:sp>
      <p:sp>
        <p:nvSpPr>
          <p:cNvPr id="14" name="Text 12"/>
          <p:cNvSpPr/>
          <p:nvPr/>
        </p:nvSpPr>
        <p:spPr>
          <a:xfrm>
            <a:off x="5848387" y="1556891"/>
            <a:ext cx="228600" cy="243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38" b="1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238" dirty="0"/>
          </a:p>
        </p:txBody>
      </p:sp>
      <p:sp>
        <p:nvSpPr>
          <p:cNvPr id="15" name="Text 13"/>
          <p:cNvSpPr/>
          <p:nvPr/>
        </p:nvSpPr>
        <p:spPr>
          <a:xfrm>
            <a:off x="6080559" y="1432210"/>
            <a:ext cx="2545519" cy="492919"/>
          </a:xfrm>
          <a:prstGeom prst="roundRect">
            <a:avLst>
              <a:gd name="adj" fmla="val 23188"/>
            </a:avLst>
          </a:prstGeom>
          <a:solidFill>
            <a:srgbClr val="252B34"/>
          </a:solidFill>
          <a:ln w="7144">
            <a:solidFill>
              <a:srgbClr val="3A415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98431" y="1592945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❄</a:t>
            </a:r>
            <a:endParaRPr lang="en-US" sz="1688" dirty="0"/>
          </a:p>
        </p:txBody>
      </p:sp>
      <p:sp>
        <p:nvSpPr>
          <p:cNvPr id="17" name="Text 15"/>
          <p:cNvSpPr/>
          <p:nvPr/>
        </p:nvSpPr>
        <p:spPr>
          <a:xfrm>
            <a:off x="6455606" y="1552984"/>
            <a:ext cx="2052600" cy="143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1"/>
              </a:lnSpc>
              <a:buNone/>
            </a:pPr>
            <a:r>
              <a:rPr lang="en-US" sz="800" kern="0" spc="1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Plattform-Routing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455606" y="1695078"/>
            <a:ext cx="1311750" cy="126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04"/>
              </a:lnSpc>
              <a:buNone/>
            </a:pPr>
            <a:r>
              <a:rPr lang="en-US" sz="619" kern="0" spc="37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Verzweigung in nativ / web</a:t>
            </a:r>
            <a:endParaRPr lang="en-US" sz="619" dirty="0"/>
          </a:p>
        </p:txBody>
      </p:sp>
      <p:sp>
        <p:nvSpPr>
          <p:cNvPr id="21" name="Text 19"/>
          <p:cNvSpPr/>
          <p:nvPr/>
        </p:nvSpPr>
        <p:spPr>
          <a:xfrm>
            <a:off x="4564856" y="1928701"/>
            <a:ext cx="14288" cy="128588"/>
          </a:xfrm>
          <a:prstGeom prst="rect">
            <a:avLst/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835609" y="2057288"/>
            <a:ext cx="5472782" cy="14288"/>
          </a:xfrm>
          <a:prstGeom prst="rect">
            <a:avLst/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835609" y="2057288"/>
            <a:ext cx="14288" cy="271463"/>
          </a:xfrm>
          <a:prstGeom prst="rect">
            <a:avLst/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294104" y="2057288"/>
            <a:ext cx="14288" cy="271463"/>
          </a:xfrm>
          <a:prstGeom prst="rect">
            <a:avLst/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778459" y="2285888"/>
            <a:ext cx="114300" cy="1771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▼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251241" y="2285888"/>
            <a:ext cx="114300" cy="1771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▼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14350" y="2328751"/>
            <a:ext cx="3971925" cy="2414699"/>
          </a:xfrm>
          <a:prstGeom prst="roundRect">
            <a:avLst>
              <a:gd name="adj" fmla="val 4734"/>
            </a:avLst>
          </a:prstGeom>
          <a:solidFill>
            <a:srgbClr val="252B3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514350" y="2332323"/>
            <a:ext cx="3971925" cy="0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Shape 27"/>
          <p:cNvSpPr/>
          <p:nvPr/>
        </p:nvSpPr>
        <p:spPr>
          <a:xfrm>
            <a:off x="4482703" y="2328751"/>
            <a:ext cx="0" cy="2414699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514350" y="4739878"/>
            <a:ext cx="3971925" cy="0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Shape 29"/>
          <p:cNvSpPr/>
          <p:nvPr/>
        </p:nvSpPr>
        <p:spPr>
          <a:xfrm>
            <a:off x="528638" y="2328751"/>
            <a:ext cx="0" cy="2414699"/>
          </a:xfrm>
          <a:prstGeom prst="line">
            <a:avLst/>
          </a:prstGeom>
          <a:noFill/>
          <a:ln w="2857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Text 30"/>
          <p:cNvSpPr/>
          <p:nvPr/>
        </p:nvSpPr>
        <p:spPr>
          <a:xfrm>
            <a:off x="700088" y="2464482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547" dirty="0"/>
          </a:p>
        </p:txBody>
      </p:sp>
      <p:sp>
        <p:nvSpPr>
          <p:cNvPr id="33" name="Text 31"/>
          <p:cNvSpPr/>
          <p:nvPr/>
        </p:nvSpPr>
        <p:spPr>
          <a:xfrm>
            <a:off x="928688" y="2471068"/>
            <a:ext cx="3393281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00" kern="0" spc="88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ANDROID NATIVE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00088" y="2721657"/>
            <a:ext cx="3621881" cy="202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77"/>
              </a:lnSpc>
              <a:buNone/>
            </a:pPr>
            <a:r>
              <a:rPr lang="en-US" sz="118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Native Systemressourcen</a:t>
            </a:r>
            <a:endParaRPr lang="en-US" sz="1181" dirty="0"/>
          </a:p>
        </p:txBody>
      </p:sp>
      <p:sp>
        <p:nvSpPr>
          <p:cNvPr id="35" name="Text 33"/>
          <p:cNvSpPr/>
          <p:nvPr/>
        </p:nvSpPr>
        <p:spPr>
          <a:xfrm>
            <a:off x="700088" y="3009193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94A3B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⚒</a:t>
            </a:r>
            <a:endParaRPr lang="en-US" sz="1125" dirty="0"/>
          </a:p>
        </p:txBody>
      </p:sp>
      <p:sp>
        <p:nvSpPr>
          <p:cNvPr id="36" name="Text 34"/>
          <p:cNvSpPr/>
          <p:nvPr/>
        </p:nvSpPr>
        <p:spPr>
          <a:xfrm>
            <a:off x="885825" y="2994906"/>
            <a:ext cx="3436144" cy="159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0"/>
              </a:lnSpc>
              <a:buNone/>
            </a:pPr>
            <a:r>
              <a:rPr lang="en-US" sz="73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GPS: @capacitor/geolocation + dynamische Berechtigungsabfrage</a:t>
            </a:r>
            <a:endParaRPr lang="en-US" sz="731" dirty="0"/>
          </a:p>
        </p:txBody>
      </p:sp>
      <p:sp>
        <p:nvSpPr>
          <p:cNvPr id="37" name="Text 35"/>
          <p:cNvSpPr/>
          <p:nvPr/>
        </p:nvSpPr>
        <p:spPr>
          <a:xfrm>
            <a:off x="700088" y="3208102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94A3B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⚙</a:t>
            </a:r>
            <a:endParaRPr lang="en-US" sz="1125" dirty="0"/>
          </a:p>
        </p:txBody>
      </p:sp>
      <p:sp>
        <p:nvSpPr>
          <p:cNvPr id="38" name="Text 36"/>
          <p:cNvSpPr/>
          <p:nvPr/>
        </p:nvSpPr>
        <p:spPr>
          <a:xfrm>
            <a:off x="885825" y="3193814"/>
            <a:ext cx="3436144" cy="159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0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Bei Ablehnung: direkter Link zu System-Einstellungen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00088" y="3407011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94A3B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◎</a:t>
            </a:r>
            <a:endParaRPr lang="en-US" sz="1125" dirty="0"/>
          </a:p>
        </p:txBody>
      </p:sp>
      <p:sp>
        <p:nvSpPr>
          <p:cNvPr id="40" name="Text 38"/>
          <p:cNvSpPr/>
          <p:nvPr/>
        </p:nvSpPr>
        <p:spPr>
          <a:xfrm>
            <a:off x="885825" y="3392723"/>
            <a:ext cx="3436144" cy="159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0"/>
              </a:lnSpc>
              <a:buNone/>
            </a:pPr>
            <a:r>
              <a:rPr lang="en-US" sz="73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Geocoding: @capawesome-team/capacitor-geocoder (Google Mobile Services)</a:t>
            </a:r>
            <a:endParaRPr lang="en-US" sz="731" dirty="0"/>
          </a:p>
        </p:txBody>
      </p:sp>
      <p:sp>
        <p:nvSpPr>
          <p:cNvPr id="41" name="Text 39"/>
          <p:cNvSpPr/>
          <p:nvPr/>
        </p:nvSpPr>
        <p:spPr>
          <a:xfrm>
            <a:off x="4657725" y="2328751"/>
            <a:ext cx="3971925" cy="2414699"/>
          </a:xfrm>
          <a:prstGeom prst="roundRect">
            <a:avLst>
              <a:gd name="adj" fmla="val 4734"/>
            </a:avLst>
          </a:prstGeom>
          <a:solidFill>
            <a:srgbClr val="252B3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Shape 40"/>
          <p:cNvSpPr/>
          <p:nvPr/>
        </p:nvSpPr>
        <p:spPr>
          <a:xfrm>
            <a:off x="4657725" y="2332323"/>
            <a:ext cx="3971925" cy="0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3" name="Shape 41"/>
          <p:cNvSpPr/>
          <p:nvPr/>
        </p:nvSpPr>
        <p:spPr>
          <a:xfrm>
            <a:off x="8626078" y="2328751"/>
            <a:ext cx="0" cy="2414699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4" name="Shape 42"/>
          <p:cNvSpPr/>
          <p:nvPr/>
        </p:nvSpPr>
        <p:spPr>
          <a:xfrm>
            <a:off x="4657725" y="4739878"/>
            <a:ext cx="3971925" cy="0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5" name="Shape 43"/>
          <p:cNvSpPr/>
          <p:nvPr/>
        </p:nvSpPr>
        <p:spPr>
          <a:xfrm>
            <a:off x="4672013" y="2328751"/>
            <a:ext cx="0" cy="2414699"/>
          </a:xfrm>
          <a:prstGeom prst="line">
            <a:avLst/>
          </a:prstGeom>
          <a:noFill/>
          <a:ln w="28575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Text 44"/>
          <p:cNvSpPr/>
          <p:nvPr/>
        </p:nvSpPr>
        <p:spPr>
          <a:xfrm>
            <a:off x="4843463" y="2464482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◯</a:t>
            </a:r>
            <a:endParaRPr lang="en-US" sz="1547" dirty="0"/>
          </a:p>
        </p:txBody>
      </p:sp>
      <p:sp>
        <p:nvSpPr>
          <p:cNvPr id="47" name="Text 45"/>
          <p:cNvSpPr/>
          <p:nvPr/>
        </p:nvSpPr>
        <p:spPr>
          <a:xfrm>
            <a:off x="5072063" y="2471068"/>
            <a:ext cx="3393281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00" kern="0" spc="88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 FALLBACK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843463" y="2721657"/>
            <a:ext cx="3621881" cy="202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77"/>
              </a:lnSpc>
              <a:buNone/>
            </a:pPr>
            <a:r>
              <a:rPr lang="en-US" sz="1181" dirty="0">
                <a:solidFill>
                  <a:srgbClr val="E5E7E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Browser HTML5 APIs</a:t>
            </a:r>
            <a:endParaRPr lang="en-US" sz="1181" dirty="0"/>
          </a:p>
        </p:txBody>
      </p:sp>
      <p:sp>
        <p:nvSpPr>
          <p:cNvPr id="49" name="Text 47"/>
          <p:cNvSpPr/>
          <p:nvPr/>
        </p:nvSpPr>
        <p:spPr>
          <a:xfrm>
            <a:off x="4843463" y="3009193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94A3B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⚒</a:t>
            </a:r>
            <a:endParaRPr lang="en-US" sz="1125" dirty="0"/>
          </a:p>
        </p:txBody>
      </p:sp>
      <p:sp>
        <p:nvSpPr>
          <p:cNvPr id="50" name="Text 48"/>
          <p:cNvSpPr/>
          <p:nvPr/>
        </p:nvSpPr>
        <p:spPr>
          <a:xfrm>
            <a:off x="5029200" y="2994906"/>
            <a:ext cx="3436144" cy="159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0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GPS: Direkter Abruf über HTML5 navigator.geolocation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843463" y="3208102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94A3B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◯</a:t>
            </a:r>
            <a:endParaRPr lang="en-US" sz="1125" dirty="0"/>
          </a:p>
        </p:txBody>
      </p:sp>
      <p:sp>
        <p:nvSpPr>
          <p:cNvPr id="52" name="Text 50"/>
          <p:cNvSpPr/>
          <p:nvPr/>
        </p:nvSpPr>
        <p:spPr>
          <a:xfrm>
            <a:off x="5029200" y="3193814"/>
            <a:ext cx="3436144" cy="159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0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Adress-Geocoding: OpenStreetMap Nominatim REST-API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843463" y="3407011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94A3B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⇄</a:t>
            </a:r>
            <a:endParaRPr lang="en-US" sz="1125" dirty="0"/>
          </a:p>
        </p:txBody>
      </p:sp>
      <p:sp>
        <p:nvSpPr>
          <p:cNvPr id="54" name="Text 52"/>
          <p:cNvSpPr/>
          <p:nvPr/>
        </p:nvSpPr>
        <p:spPr>
          <a:xfrm>
            <a:off x="5029200" y="3392723"/>
            <a:ext cx="3436144" cy="159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0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Ruckelfreier Umstieg, keine Konfigurationsfehler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28600" y="157163"/>
            <a:ext cx="770730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619" kern="0" spc="11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ARCHITEKTUR</a:t>
            </a:r>
            <a:endParaRPr lang="en-US" sz="619" dirty="0"/>
          </a:p>
        </p:txBody>
      </p:sp>
      <p:sp>
        <p:nvSpPr>
          <p:cNvPr id="56" name="Text 54"/>
          <p:cNvSpPr/>
          <p:nvPr/>
        </p:nvSpPr>
        <p:spPr>
          <a:xfrm>
            <a:off x="8541246" y="157163"/>
            <a:ext cx="560939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800" kern="0" spc="111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 / 10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8388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-1143000" y="-1143000"/>
            <a:ext cx="3429000" cy="3429000"/>
          </a:xfrm>
          <a:prstGeom prst="ellipse">
            <a:avLst/>
          </a:prstGeom>
          <a:solidFill>
            <a:srgbClr val="38BDF8">
              <a:alpha val="18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6715125" y="2714625"/>
            <a:ext cx="3714750" cy="3714750"/>
          </a:xfrm>
          <a:prstGeom prst="ellipse">
            <a:avLst/>
          </a:prstGeom>
          <a:solidFill>
            <a:srgbClr val="10B98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47015" y="1088117"/>
            <a:ext cx="3067280" cy="3067280"/>
          </a:xfrm>
          <a:prstGeom prst="ellipse">
            <a:avLst/>
          </a:prstGeom>
          <a:noFill/>
          <a:ln w="14288">
            <a:solidFill>
              <a:srgbClr val="38BDF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687586" y="928688"/>
            <a:ext cx="3386138" cy="3386138"/>
          </a:xfrm>
          <a:prstGeom prst="ellipse">
            <a:avLst/>
          </a:prstGeom>
          <a:noFill/>
          <a:ln w="14288">
            <a:solidFill>
              <a:srgbClr val="38BDF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693397" y="934498"/>
            <a:ext cx="3374516" cy="3374516"/>
          </a:xfrm>
          <a:prstGeom prst="ellipse">
            <a:avLst/>
          </a:prstGeom>
          <a:noFill/>
          <a:ln w="14288">
            <a:solidFill>
              <a:srgbClr val="38BDF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6217" y="1407319"/>
            <a:ext cx="2428875" cy="24288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73361" y="1414463"/>
            <a:ext cx="2414588" cy="2414588"/>
          </a:xfrm>
          <a:prstGeom prst="ellipse">
            <a:avLst/>
          </a:prstGeom>
          <a:solidFill>
            <a:srgbClr val="1E232A">
              <a:alpha val="0"/>
            </a:srgbClr>
          </a:solidFill>
          <a:ln w="14288">
            <a:solidFill>
              <a:srgbClr val="38BDF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1789172" y="2030273"/>
            <a:ext cx="1182966" cy="11829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4800" dirty="0"/>
          </a:p>
        </p:txBody>
      </p:sp>
      <p:sp>
        <p:nvSpPr>
          <p:cNvPr id="11" name="Text 7"/>
          <p:cNvSpPr/>
          <p:nvPr/>
        </p:nvSpPr>
        <p:spPr>
          <a:xfrm>
            <a:off x="2338183" y="1493044"/>
            <a:ext cx="1057666" cy="215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69"/>
              </a:lnSpc>
              <a:buNone/>
            </a:pPr>
            <a:r>
              <a:rPr lang="en-US" sz="1013" b="1" kern="0" spc="162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013" dirty="0"/>
          </a:p>
        </p:txBody>
      </p:sp>
      <p:sp>
        <p:nvSpPr>
          <p:cNvPr id="12" name="Text 8"/>
          <p:cNvSpPr/>
          <p:nvPr/>
        </p:nvSpPr>
        <p:spPr>
          <a:xfrm>
            <a:off x="3410136" y="2522134"/>
            <a:ext cx="156381" cy="215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69"/>
              </a:lnSpc>
              <a:buNone/>
            </a:pPr>
            <a:r>
              <a:rPr lang="en-US" sz="1013" kern="0" spc="162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013" dirty="0"/>
          </a:p>
        </p:txBody>
      </p:sp>
      <p:sp>
        <p:nvSpPr>
          <p:cNvPr id="13" name="Text 9"/>
          <p:cNvSpPr/>
          <p:nvPr/>
        </p:nvSpPr>
        <p:spPr>
          <a:xfrm>
            <a:off x="2338183" y="3551225"/>
            <a:ext cx="1057666" cy="215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69"/>
              </a:lnSpc>
              <a:buNone/>
            </a:pPr>
            <a:r>
              <a:rPr lang="en-US" sz="1013" kern="0" spc="162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013" dirty="0"/>
          </a:p>
        </p:txBody>
      </p:sp>
      <p:sp>
        <p:nvSpPr>
          <p:cNvPr id="14" name="Text 10"/>
          <p:cNvSpPr/>
          <p:nvPr/>
        </p:nvSpPr>
        <p:spPr>
          <a:xfrm>
            <a:off x="1266230" y="2522134"/>
            <a:ext cx="508654" cy="215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69"/>
              </a:lnSpc>
              <a:buNone/>
            </a:pPr>
            <a:r>
              <a:rPr lang="en-US" sz="1013" kern="0" spc="162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</a:t>
            </a:r>
            <a:endParaRPr lang="en-US" sz="1013" dirty="0"/>
          </a:p>
        </p:txBody>
      </p:sp>
      <p:sp>
        <p:nvSpPr>
          <p:cNvPr id="15" name="Text 11"/>
          <p:cNvSpPr/>
          <p:nvPr/>
        </p:nvSpPr>
        <p:spPr>
          <a:xfrm>
            <a:off x="1151930" y="2607469"/>
            <a:ext cx="28575" cy="28575"/>
          </a:xfrm>
          <a:prstGeom prst="ellipse">
            <a:avLst/>
          </a:prstGeom>
          <a:solidFill>
            <a:srgbClr val="38BDF8"/>
          </a:solidFill>
          <a:ln/>
          <a:effectLst>
            <a:outerShdw blurRad="76200" dist="50800" dir="16200000" algn="bl" rotWithShape="0">
              <a:srgbClr val="38BDF8">
                <a:alpha val="5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3580805" y="2607469"/>
            <a:ext cx="28575" cy="28575"/>
          </a:xfrm>
          <a:prstGeom prst="ellipse">
            <a:avLst/>
          </a:prstGeom>
          <a:solidFill>
            <a:srgbClr val="38BDF8"/>
          </a:solidFill>
          <a:ln/>
          <a:effectLst>
            <a:outerShdw blurRad="76200" dist="50800" dir="16200000" algn="bl" rotWithShape="0">
              <a:srgbClr val="38BDF8">
                <a:alpha val="5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2366367" y="1393031"/>
            <a:ext cx="28575" cy="28575"/>
          </a:xfrm>
          <a:prstGeom prst="ellipse">
            <a:avLst/>
          </a:prstGeom>
          <a:solidFill>
            <a:srgbClr val="38BDF8"/>
          </a:solidFill>
          <a:ln/>
          <a:effectLst>
            <a:outerShdw blurRad="76200" dist="50800" dir="16200000" algn="bl" rotWithShape="0">
              <a:srgbClr val="38BDF8">
                <a:alpha val="5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2366367" y="3821906"/>
            <a:ext cx="28575" cy="28575"/>
          </a:xfrm>
          <a:prstGeom prst="ellipse">
            <a:avLst/>
          </a:prstGeom>
          <a:solidFill>
            <a:srgbClr val="38BDF8"/>
          </a:solidFill>
          <a:ln/>
          <a:effectLst>
            <a:outerShdw blurRad="76200" dist="50800" dir="16200000" algn="bl" rotWithShape="0">
              <a:srgbClr val="38BDF8">
                <a:alpha val="5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4492380" y="1164575"/>
            <a:ext cx="937907" cy="258445"/>
          </a:xfrm>
          <a:prstGeom prst="roundRect">
            <a:avLst>
              <a:gd name="adj" fmla="val 3681818"/>
            </a:avLst>
          </a:prstGeom>
          <a:solidFill>
            <a:srgbClr val="10B981">
              <a:alpha val="7000"/>
            </a:srgbClr>
          </a:solidFill>
          <a:ln w="7144">
            <a:solidFill>
              <a:srgbClr val="10B981"/>
            </a:solidFill>
            <a:prstDash val="solid"/>
          </a:ln>
          <a:effectLst>
            <a:outerShdw blurRad="101600" dist="50800" dir="16200000" algn="bl" rotWithShape="0">
              <a:srgbClr val="10B981">
                <a:alpha val="4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4553783" y="1261673"/>
            <a:ext cx="57150" cy="57150"/>
          </a:xfrm>
          <a:prstGeom prst="roundRect">
            <a:avLst>
              <a:gd name="adj" fmla="val 66667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7"/>
          <p:cNvSpPr/>
          <p:nvPr/>
        </p:nvSpPr>
        <p:spPr>
          <a:xfrm>
            <a:off x="4553783" y="1166867"/>
            <a:ext cx="892187" cy="232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046"/>
              </a:lnSpc>
              <a:buNone/>
            </a:pPr>
            <a:r>
              <a:rPr lang="en-US" sz="800" kern="0" spc="189" dirty="0">
                <a:solidFill>
                  <a:srgbClr val="10B981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SHOWTIME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4504134" y="1520056"/>
            <a:ext cx="4538067" cy="1625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6003"/>
              </a:lnSpc>
              <a:buNone/>
            </a:pPr>
            <a:r>
              <a:rPr lang="en-US" sz="6525" b="1" kern="0" spc="-294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LIVE</a:t>
            </a:r>
            <a:endParaRPr lang="en-US" sz="6525" dirty="0"/>
          </a:p>
          <a:p>
            <a:pPr marL="0" indent="0" algn="l">
              <a:lnSpc>
                <a:spcPts val="6003"/>
              </a:lnSpc>
              <a:buNone/>
            </a:pPr>
            <a:r>
              <a:rPr lang="en-US" sz="6525" b="1" kern="0" spc="-294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DEMO</a:t>
            </a:r>
            <a:r>
              <a:rPr lang="en-US" sz="6525" b="1" kern="0" spc="-294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</a:t>
            </a:r>
            <a:endParaRPr lang="en-US" sz="6525" dirty="0"/>
          </a:p>
        </p:txBody>
      </p:sp>
      <p:sp>
        <p:nvSpPr>
          <p:cNvPr id="23" name="Text 19"/>
          <p:cNvSpPr/>
          <p:nvPr/>
        </p:nvSpPr>
        <p:spPr>
          <a:xfrm>
            <a:off x="4504134" y="3173388"/>
            <a:ext cx="3857625" cy="624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78"/>
              </a:lnSpc>
              <a:buNone/>
            </a:pPr>
            <a:r>
              <a:rPr lang="en-US" sz="1688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Theorie trifft Praxis — am laufenden System</a:t>
            </a:r>
            <a:endParaRPr lang="en-US" sz="1688" dirty="0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4134" y="3979180"/>
            <a:ext cx="400050" cy="21431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004197" y="3923481"/>
            <a:ext cx="3625453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46"/>
              </a:lnSpc>
              <a:buNone/>
            </a:pPr>
            <a:r>
              <a:rPr lang="en-US" sz="800" kern="0" spc="8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ON-AIR · REAL DEVICE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2331765" y="4810646"/>
            <a:ext cx="6297885" cy="170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46"/>
              </a:lnSpc>
              <a:buNone/>
            </a:pPr>
            <a:r>
              <a:rPr lang="en-US" sz="800" kern="0" spc="54" dirty="0">
                <a:solidFill>
                  <a:srgbClr val="10B981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 Demonstrationen</a:t>
            </a:r>
            <a:r>
              <a:rPr lang="en-US" sz="800" kern="0" spc="54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kern="0" spc="54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r>
              <a:rPr lang="en-US" sz="800" kern="0" spc="54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GPS-Ortung </a:t>
            </a:r>
            <a:r>
              <a:rPr lang="en-US" sz="800" kern="0" spc="54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r>
              <a:rPr lang="en-US" sz="800" kern="0" spc="54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Adresssuche </a:t>
            </a:r>
            <a:r>
              <a:rPr lang="en-US" sz="800" kern="0" spc="54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r>
              <a:rPr lang="en-US" sz="800" kern="0" spc="54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Karten-Navigation </a:t>
            </a:r>
            <a:r>
              <a:rPr lang="en-US" sz="800" kern="0" spc="54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r>
              <a:rPr lang="en-US" sz="800" kern="0" spc="54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Berechtigungs-Flow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8541246" y="157163"/>
            <a:ext cx="560939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800" kern="0" spc="111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86625" y="-1143000"/>
            <a:ext cx="2714625" cy="271462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14350" y="582327"/>
            <a:ext cx="342900" cy="28575"/>
          </a:xfrm>
          <a:prstGeom prst="roundRect">
            <a:avLst>
              <a:gd name="adj" fmla="val 66667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957263" y="488470"/>
            <a:ext cx="1815298" cy="216402"/>
          </a:xfrm>
          <a:prstGeom prst="roundRect">
            <a:avLst>
              <a:gd name="adj" fmla="val 4397129"/>
            </a:avLst>
          </a:prstGeom>
          <a:solidFill>
            <a:srgbClr val="F59E0B">
              <a:alpha val="12000"/>
            </a:srgbClr>
          </a:solidFill>
          <a:ln w="7144">
            <a:solidFill>
              <a:srgbClr val="F59E0B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1193006" y="542925"/>
            <a:ext cx="7436644" cy="139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800" kern="0" spc="74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DOM-ANIMATIONSKONFLIKT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50131" y="546608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84" dirty="0">
                <a:solidFill>
                  <a:srgbClr val="F59E0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⚡</a:t>
            </a:r>
            <a:endParaRPr lang="en-US" sz="984" dirty="0"/>
          </a:p>
        </p:txBody>
      </p:sp>
      <p:sp>
        <p:nvSpPr>
          <p:cNvPr id="8" name="Text 5"/>
          <p:cNvSpPr/>
          <p:nvPr/>
        </p:nvSpPr>
        <p:spPr>
          <a:xfrm>
            <a:off x="514350" y="764716"/>
            <a:ext cx="8629650" cy="367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72"/>
              </a:lnSpc>
              <a:buNone/>
            </a:pPr>
            <a:r>
              <a:rPr lang="en-US" sz="2475" b="1" kern="0" spc="-25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Animations-Konflikte im DOM</a:t>
            </a:r>
            <a:endParaRPr lang="en-US" sz="2475" dirty="0"/>
          </a:p>
        </p:txBody>
      </p:sp>
      <p:sp>
        <p:nvSpPr>
          <p:cNvPr id="9" name="Text 6"/>
          <p:cNvSpPr/>
          <p:nvPr/>
        </p:nvSpPr>
        <p:spPr>
          <a:xfrm>
            <a:off x="514350" y="1159520"/>
            <a:ext cx="8115300" cy="226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4"/>
              </a:lnSpc>
              <a:buNone/>
            </a:pPr>
            <a:r>
              <a:rPr lang="en-US" sz="1181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Synchronisations-Konflikt zwischen Vue-Reactivity und Leaflet-Animationsqueue</a:t>
            </a:r>
            <a:endParaRPr lang="en-US" sz="1181" dirty="0"/>
          </a:p>
        </p:txBody>
      </p:sp>
      <p:sp>
        <p:nvSpPr>
          <p:cNvPr id="10" name="Text 7"/>
          <p:cNvSpPr/>
          <p:nvPr/>
        </p:nvSpPr>
        <p:spPr>
          <a:xfrm>
            <a:off x="514350" y="1498067"/>
            <a:ext cx="2619301" cy="3015779"/>
          </a:xfrm>
          <a:prstGeom prst="roundRect">
            <a:avLst>
              <a:gd name="adj" fmla="val 5091"/>
            </a:avLst>
          </a:prstGeom>
          <a:solidFill>
            <a:srgbClr val="252B3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514350" y="1512354"/>
            <a:ext cx="2619301" cy="0"/>
          </a:xfrm>
          <a:prstGeom prst="line">
            <a:avLst/>
          </a:prstGeom>
          <a:noFill/>
          <a:ln w="2857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9"/>
          <p:cNvSpPr/>
          <p:nvPr/>
        </p:nvSpPr>
        <p:spPr>
          <a:xfrm>
            <a:off x="3130079" y="1498067"/>
            <a:ext cx="0" cy="3015779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0"/>
          <p:cNvSpPr/>
          <p:nvPr/>
        </p:nvSpPr>
        <p:spPr>
          <a:xfrm>
            <a:off x="514350" y="4510274"/>
            <a:ext cx="2619301" cy="0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1"/>
          <p:cNvSpPr/>
          <p:nvPr/>
        </p:nvSpPr>
        <p:spPr>
          <a:xfrm>
            <a:off x="517922" y="1498067"/>
            <a:ext cx="0" cy="3015779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Text 12"/>
          <p:cNvSpPr/>
          <p:nvPr/>
        </p:nvSpPr>
        <p:spPr>
          <a:xfrm>
            <a:off x="650081" y="1640942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969" dirty="0">
                <a:solidFill>
                  <a:srgbClr val="EF444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✕</a:t>
            </a:r>
            <a:endParaRPr lang="en-US" sz="1969" dirty="0"/>
          </a:p>
        </p:txBody>
      </p:sp>
      <p:sp>
        <p:nvSpPr>
          <p:cNvPr id="16" name="Text 13"/>
          <p:cNvSpPr/>
          <p:nvPr/>
        </p:nvSpPr>
        <p:spPr>
          <a:xfrm>
            <a:off x="921544" y="1632697"/>
            <a:ext cx="478073" cy="216402"/>
          </a:xfrm>
          <a:prstGeom prst="roundRect">
            <a:avLst>
              <a:gd name="adj" fmla="val 4397129"/>
            </a:avLst>
          </a:prstGeom>
          <a:solidFill>
            <a:srgbClr val="EF4444">
              <a:alpha val="12000"/>
            </a:srgbClr>
          </a:solidFill>
          <a:ln w="7144">
            <a:solidFill>
              <a:srgbClr val="EF444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919809" y="1644290"/>
            <a:ext cx="481543" cy="193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59"/>
              </a:lnSpc>
              <a:buNone/>
            </a:pPr>
            <a:r>
              <a:rPr lang="en-US" sz="800" kern="0" spc="74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VORHER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2877955" y="1680009"/>
            <a:ext cx="142484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619" kern="0" spc="74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619" dirty="0"/>
          </a:p>
        </p:txBody>
      </p:sp>
      <p:sp>
        <p:nvSpPr>
          <p:cNvPr id="19" name="Text 16"/>
          <p:cNvSpPr/>
          <p:nvPr/>
        </p:nvSpPr>
        <p:spPr>
          <a:xfrm>
            <a:off x="650081" y="1926692"/>
            <a:ext cx="2347838" cy="194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18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Das Symptom</a:t>
            </a:r>
            <a:endParaRPr lang="en-US" sz="1181" dirty="0"/>
          </a:p>
        </p:txBody>
      </p:sp>
      <p:sp>
        <p:nvSpPr>
          <p:cNvPr id="20" name="Text 17"/>
          <p:cNvSpPr/>
          <p:nvPr/>
        </p:nvSpPr>
        <p:spPr>
          <a:xfrm>
            <a:off x="650081" y="2206637"/>
            <a:ext cx="2347838" cy="3317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Bei der ersten Ortung/Suche zentrierte die Karte </a:t>
            </a: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nicht</a:t>
            </a:r>
            <a:r>
              <a:rPr lang="en-US" sz="8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erst ein 2. Klick bewegte den Sichtbereich!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44779" y="2643076"/>
            <a:ext cx="2340694" cy="620613"/>
          </a:xfrm>
          <a:prstGeom prst="roundRect">
            <a:avLst>
              <a:gd name="adj" fmla="val 12278"/>
            </a:avLst>
          </a:prstGeom>
          <a:solidFill>
            <a:srgbClr val="161A20"/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757238" y="2658703"/>
            <a:ext cx="2243254" cy="1199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160"/>
              </a:lnSpc>
              <a:buNone/>
            </a:pPr>
            <a:r>
              <a:rPr lang="en-US" sz="703" i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Fehlerhaft: zwei konkurrierende Props</a:t>
            </a:r>
            <a:endParaRPr lang="en-US" sz="703" dirty="0"/>
          </a:p>
        </p:txBody>
      </p:sp>
      <p:sp>
        <p:nvSpPr>
          <p:cNvPr id="23" name="Text 20"/>
          <p:cNvSpPr/>
          <p:nvPr/>
        </p:nvSpPr>
        <p:spPr>
          <a:xfrm>
            <a:off x="757238" y="2806043"/>
            <a:ext cx="2133526" cy="1199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160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:center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"newCenter"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757238" y="2953383"/>
            <a:ext cx="2133526" cy="1473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0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:zoom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FBBF2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14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3262238" y="1498067"/>
            <a:ext cx="2619412" cy="3015779"/>
          </a:xfrm>
          <a:prstGeom prst="roundRect">
            <a:avLst>
              <a:gd name="adj" fmla="val 5091"/>
            </a:avLst>
          </a:prstGeom>
          <a:solidFill>
            <a:srgbClr val="252B3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Shape 23"/>
          <p:cNvSpPr/>
          <p:nvPr/>
        </p:nvSpPr>
        <p:spPr>
          <a:xfrm>
            <a:off x="3262238" y="1512354"/>
            <a:ext cx="2619412" cy="0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Shape 24"/>
          <p:cNvSpPr/>
          <p:nvPr/>
        </p:nvSpPr>
        <p:spPr>
          <a:xfrm>
            <a:off x="5878078" y="1498067"/>
            <a:ext cx="0" cy="3015779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5"/>
          <p:cNvSpPr/>
          <p:nvPr/>
        </p:nvSpPr>
        <p:spPr>
          <a:xfrm>
            <a:off x="3262238" y="4510274"/>
            <a:ext cx="2619412" cy="0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Shape 26"/>
          <p:cNvSpPr/>
          <p:nvPr/>
        </p:nvSpPr>
        <p:spPr>
          <a:xfrm>
            <a:off x="3265810" y="1498067"/>
            <a:ext cx="0" cy="3015779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7"/>
          <p:cNvSpPr/>
          <p:nvPr/>
        </p:nvSpPr>
        <p:spPr>
          <a:xfrm>
            <a:off x="3397969" y="1640942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969" dirty="0">
                <a:solidFill>
                  <a:srgbClr val="F59E0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969" dirty="0"/>
          </a:p>
        </p:txBody>
      </p:sp>
      <p:sp>
        <p:nvSpPr>
          <p:cNvPr id="31" name="Text 28"/>
          <p:cNvSpPr/>
          <p:nvPr/>
        </p:nvSpPr>
        <p:spPr>
          <a:xfrm>
            <a:off x="3669432" y="1632697"/>
            <a:ext cx="526852" cy="216402"/>
          </a:xfrm>
          <a:prstGeom prst="roundRect">
            <a:avLst>
              <a:gd name="adj" fmla="val 4397129"/>
            </a:avLst>
          </a:prstGeom>
          <a:solidFill>
            <a:srgbClr val="F59E0B">
              <a:alpha val="12000"/>
            </a:srgbClr>
          </a:solidFill>
          <a:ln w="7144">
            <a:solidFill>
              <a:srgbClr val="F59E0B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9"/>
          <p:cNvSpPr/>
          <p:nvPr/>
        </p:nvSpPr>
        <p:spPr>
          <a:xfrm>
            <a:off x="3654921" y="1644290"/>
            <a:ext cx="555874" cy="193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59"/>
              </a:lnSpc>
              <a:buNone/>
            </a:pPr>
            <a:r>
              <a:rPr lang="en-US" sz="800" kern="0" spc="74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ANALYSE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5625955" y="1680009"/>
            <a:ext cx="142484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619" kern="0" spc="74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619" dirty="0"/>
          </a:p>
        </p:txBody>
      </p:sp>
      <p:sp>
        <p:nvSpPr>
          <p:cNvPr id="34" name="Text 31"/>
          <p:cNvSpPr/>
          <p:nvPr/>
        </p:nvSpPr>
        <p:spPr>
          <a:xfrm>
            <a:off x="3397969" y="1926692"/>
            <a:ext cx="2347950" cy="194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18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Die Analyse</a:t>
            </a:r>
            <a:endParaRPr lang="en-US" sz="1181" dirty="0"/>
          </a:p>
        </p:txBody>
      </p:sp>
      <p:sp>
        <p:nvSpPr>
          <p:cNvPr id="35" name="Text 32"/>
          <p:cNvSpPr/>
          <p:nvPr/>
        </p:nvSpPr>
        <p:spPr>
          <a:xfrm>
            <a:off x="3397969" y="2206637"/>
            <a:ext cx="2347950" cy="679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Gleichzeitige Änderung von reaktiven Vue-Props (</a:t>
            </a: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:center</a:t>
            </a:r>
            <a:r>
              <a:rPr lang="en-US" sz="8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&amp; </a:t>
            </a: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:zoom</a:t>
            </a:r>
            <a:r>
              <a:rPr lang="en-US" sz="8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) führte im deklarativen Wrapper von </a:t>
            </a:r>
            <a:r>
              <a:rPr lang="en-US" sz="8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@vue-leaflet</a:t>
            </a:r>
            <a:r>
              <a:rPr lang="en-US" sz="8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zu zwei konkurrierenden Animations-Aufträgen in Leaflet.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3397969" y="2882168"/>
            <a:ext cx="2347950" cy="7144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4"/>
          <p:cNvSpPr/>
          <p:nvPr/>
        </p:nvSpPr>
        <p:spPr>
          <a:xfrm>
            <a:off x="3397969" y="3025043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95" dirty="0">
                <a:solidFill>
                  <a:srgbClr val="F59E0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1195" dirty="0"/>
          </a:p>
        </p:txBody>
      </p:sp>
      <p:sp>
        <p:nvSpPr>
          <p:cNvPr id="38" name="Text 35"/>
          <p:cNvSpPr/>
          <p:nvPr/>
        </p:nvSpPr>
        <p:spPr>
          <a:xfrm>
            <a:off x="3583707" y="3017900"/>
            <a:ext cx="2162212" cy="153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4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panTo blockierte setZoom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3397969" y="3212120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95" dirty="0">
                <a:solidFill>
                  <a:srgbClr val="F59E0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195" dirty="0"/>
          </a:p>
        </p:txBody>
      </p:sp>
      <p:sp>
        <p:nvSpPr>
          <p:cNvPr id="40" name="Text 37"/>
          <p:cNvSpPr/>
          <p:nvPr/>
        </p:nvSpPr>
        <p:spPr>
          <a:xfrm>
            <a:off x="3583707" y="3204976"/>
            <a:ext cx="2162212" cy="153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4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Erst 2. Klick löste Blockade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6010238" y="1498067"/>
            <a:ext cx="2619301" cy="3015779"/>
          </a:xfrm>
          <a:prstGeom prst="roundRect">
            <a:avLst>
              <a:gd name="adj" fmla="val 5091"/>
            </a:avLst>
          </a:prstGeom>
          <a:solidFill>
            <a:srgbClr val="252B3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Shape 39"/>
          <p:cNvSpPr/>
          <p:nvPr/>
        </p:nvSpPr>
        <p:spPr>
          <a:xfrm>
            <a:off x="6010238" y="1512354"/>
            <a:ext cx="2619301" cy="0"/>
          </a:xfrm>
          <a:prstGeom prst="line">
            <a:avLst/>
          </a:prstGeom>
          <a:noFill/>
          <a:ln w="2857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3" name="Shape 40"/>
          <p:cNvSpPr/>
          <p:nvPr/>
        </p:nvSpPr>
        <p:spPr>
          <a:xfrm>
            <a:off x="8625967" y="1498067"/>
            <a:ext cx="0" cy="3015779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4" name="Shape 41"/>
          <p:cNvSpPr/>
          <p:nvPr/>
        </p:nvSpPr>
        <p:spPr>
          <a:xfrm>
            <a:off x="6010238" y="4510274"/>
            <a:ext cx="2619301" cy="0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5" name="Shape 42"/>
          <p:cNvSpPr/>
          <p:nvPr/>
        </p:nvSpPr>
        <p:spPr>
          <a:xfrm>
            <a:off x="6013810" y="1498067"/>
            <a:ext cx="0" cy="3015779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Text 43"/>
          <p:cNvSpPr/>
          <p:nvPr/>
        </p:nvSpPr>
        <p:spPr>
          <a:xfrm>
            <a:off x="6145969" y="1640942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969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969" dirty="0"/>
          </a:p>
        </p:txBody>
      </p:sp>
      <p:sp>
        <p:nvSpPr>
          <p:cNvPr id="47" name="Text 44"/>
          <p:cNvSpPr/>
          <p:nvPr/>
        </p:nvSpPr>
        <p:spPr>
          <a:xfrm>
            <a:off x="6417432" y="1632697"/>
            <a:ext cx="526852" cy="216402"/>
          </a:xfrm>
          <a:prstGeom prst="roundRect">
            <a:avLst>
              <a:gd name="adj" fmla="val 4397129"/>
            </a:avLst>
          </a:prstGeom>
          <a:solidFill>
            <a:srgbClr val="10B981">
              <a:alpha val="12000"/>
            </a:srgbClr>
          </a:solidFill>
          <a:ln w="7144">
            <a:solidFill>
              <a:srgbClr val="10B98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5"/>
          <p:cNvSpPr/>
          <p:nvPr/>
        </p:nvSpPr>
        <p:spPr>
          <a:xfrm>
            <a:off x="6402920" y="1644290"/>
            <a:ext cx="555874" cy="193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59"/>
              </a:lnSpc>
              <a:buNone/>
            </a:pPr>
            <a:r>
              <a:rPr lang="en-US" sz="800" kern="0" spc="74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NACHHER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8373843" y="1680009"/>
            <a:ext cx="142484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619" kern="0" spc="74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619" dirty="0"/>
          </a:p>
        </p:txBody>
      </p:sp>
      <p:sp>
        <p:nvSpPr>
          <p:cNvPr id="50" name="Text 47"/>
          <p:cNvSpPr/>
          <p:nvPr/>
        </p:nvSpPr>
        <p:spPr>
          <a:xfrm>
            <a:off x="6145969" y="1926692"/>
            <a:ext cx="2347838" cy="194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18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Die saubere Lösung</a:t>
            </a:r>
            <a:endParaRPr lang="en-US" sz="1181" dirty="0"/>
          </a:p>
        </p:txBody>
      </p:sp>
      <p:sp>
        <p:nvSpPr>
          <p:cNvPr id="51" name="Text 48"/>
          <p:cNvSpPr/>
          <p:nvPr/>
        </p:nvSpPr>
        <p:spPr>
          <a:xfrm>
            <a:off x="6145969" y="2206637"/>
            <a:ext cx="2347838" cy="3317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Trennung von </a:t>
            </a: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Initialzustand</a:t>
            </a:r>
            <a:r>
              <a:rPr lang="en-US" sz="8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und </a:t>
            </a: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imperativer Navigation</a:t>
            </a:r>
            <a:r>
              <a:rPr lang="en-US" sz="8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149541" y="2569406"/>
            <a:ext cx="2340694" cy="915293"/>
          </a:xfrm>
          <a:prstGeom prst="roundRect">
            <a:avLst>
              <a:gd name="adj" fmla="val 8325"/>
            </a:avLst>
          </a:prstGeom>
          <a:solidFill>
            <a:srgbClr val="161A20"/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50"/>
          <p:cNvSpPr/>
          <p:nvPr/>
        </p:nvSpPr>
        <p:spPr>
          <a:xfrm>
            <a:off x="6253125" y="2658703"/>
            <a:ext cx="2243254" cy="1199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160"/>
              </a:lnSpc>
              <a:buNone/>
            </a:pPr>
            <a:r>
              <a:rPr lang="en-US" sz="800" i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Initial: unveränderlich</a:t>
            </a:r>
            <a:endParaRPr lang="en-US" sz="800" dirty="0"/>
          </a:p>
        </p:txBody>
      </p:sp>
      <p:sp>
        <p:nvSpPr>
          <p:cNvPr id="54" name="Text 51"/>
          <p:cNvSpPr/>
          <p:nvPr/>
        </p:nvSpPr>
        <p:spPr>
          <a:xfrm>
            <a:off x="6253125" y="2806043"/>
            <a:ext cx="2243254" cy="1199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160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:center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"initialCenter"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6253125" y="2953383"/>
            <a:ext cx="2133526" cy="1199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160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:zoom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"initialZoom"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6253125" y="3100722"/>
            <a:ext cx="2133526" cy="1199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160"/>
              </a:lnSpc>
              <a:buNone/>
            </a:pPr>
            <a:r>
              <a:rPr lang="en-US" sz="800" i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Laufend: imperativ via</a:t>
            </a:r>
            <a:endParaRPr lang="en-US" sz="800" dirty="0"/>
          </a:p>
        </p:txBody>
      </p:sp>
      <p:sp>
        <p:nvSpPr>
          <p:cNvPr id="57" name="Text 54"/>
          <p:cNvSpPr/>
          <p:nvPr/>
        </p:nvSpPr>
        <p:spPr>
          <a:xfrm>
            <a:off x="6253125" y="3248062"/>
            <a:ext cx="2133526" cy="1473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0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setView</a:t>
            </a: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latlng</a:t>
            </a: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FBBF2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14</a:t>
            </a: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00" dirty="0"/>
          </a:p>
        </p:txBody>
      </p:sp>
      <p:sp>
        <p:nvSpPr>
          <p:cNvPr id="58" name="Text 55"/>
          <p:cNvSpPr/>
          <p:nvPr/>
        </p:nvSpPr>
        <p:spPr>
          <a:xfrm>
            <a:off x="514350" y="4599570"/>
            <a:ext cx="8115300" cy="16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33"/>
              </a:lnSpc>
              <a:buNone/>
            </a:pPr>
            <a:r>
              <a:rPr lang="en-US" sz="800" kern="0" spc="59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✔</a:t>
            </a:r>
            <a:r>
              <a:rPr lang="en-US" sz="800" kern="0" spc="59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Seit dem Refactor: punktgenaue Zentrierung bereits beim ersten Klick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205636" y="157163"/>
            <a:ext cx="886765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800" kern="0" spc="111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CHALLENGE 01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8541246" y="157163"/>
            <a:ext cx="560939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800" kern="0" spc="111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-60886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-857251" y="-987983"/>
            <a:ext cx="2571750" cy="2571750"/>
          </a:xfrm>
          <a:prstGeom prst="ellipse">
            <a:avLst/>
          </a:prstGeom>
          <a:solidFill>
            <a:srgbClr val="10B981">
              <a:alpha val="7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14350" y="582327"/>
            <a:ext cx="342900" cy="28575"/>
          </a:xfrm>
          <a:prstGeom prst="roundRect">
            <a:avLst>
              <a:gd name="adj" fmla="val 66667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957263" y="488470"/>
            <a:ext cx="1614487" cy="216402"/>
          </a:xfrm>
          <a:prstGeom prst="roundRect">
            <a:avLst>
              <a:gd name="adj" fmla="val 4397129"/>
            </a:avLst>
          </a:prstGeom>
          <a:solidFill>
            <a:srgbClr val="F59E0B">
              <a:alpha val="12000"/>
            </a:srgbClr>
          </a:solidFill>
          <a:ln w="7144">
            <a:solidFill>
              <a:srgbClr val="F59E0B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1193006" y="542925"/>
            <a:ext cx="7436644" cy="139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800" kern="0" spc="74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GEOCODING-FALLBACK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50131" y="546608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84" dirty="0">
                <a:solidFill>
                  <a:srgbClr val="F59E0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84" dirty="0"/>
          </a:p>
        </p:txBody>
      </p:sp>
      <p:sp>
        <p:nvSpPr>
          <p:cNvPr id="8" name="Text 5"/>
          <p:cNvSpPr/>
          <p:nvPr/>
        </p:nvSpPr>
        <p:spPr>
          <a:xfrm>
            <a:off x="514350" y="764716"/>
            <a:ext cx="8629650" cy="367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72"/>
              </a:lnSpc>
              <a:buNone/>
            </a:pPr>
            <a:r>
              <a:rPr lang="en-US" sz="2475" b="1" kern="0" spc="-25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Robuster Geocoding-Fallback</a:t>
            </a:r>
            <a:endParaRPr lang="en-US" sz="2475" dirty="0"/>
          </a:p>
        </p:txBody>
      </p:sp>
      <p:sp>
        <p:nvSpPr>
          <p:cNvPr id="9" name="Text 6"/>
          <p:cNvSpPr/>
          <p:nvPr/>
        </p:nvSpPr>
        <p:spPr>
          <a:xfrm>
            <a:off x="514350" y="1159520"/>
            <a:ext cx="8629650" cy="226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4"/>
              </a:lnSpc>
              <a:buNone/>
            </a:pPr>
            <a:r>
              <a:rPr lang="en-US" sz="1181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Fehlertoleranz von externen Plugins im Browser</a:t>
            </a:r>
            <a:endParaRPr lang="en-US" sz="1181" dirty="0"/>
          </a:p>
        </p:txBody>
      </p:sp>
      <p:sp>
        <p:nvSpPr>
          <p:cNvPr id="10" name="Text 7"/>
          <p:cNvSpPr/>
          <p:nvPr/>
        </p:nvSpPr>
        <p:spPr>
          <a:xfrm>
            <a:off x="514350" y="1483779"/>
            <a:ext cx="3971925" cy="3044354"/>
          </a:xfrm>
          <a:prstGeom prst="roundRect">
            <a:avLst>
              <a:gd name="adj" fmla="val 4380"/>
            </a:avLst>
          </a:prstGeom>
          <a:solidFill>
            <a:srgbClr val="252B3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514350" y="1494495"/>
            <a:ext cx="3971925" cy="0"/>
          </a:xfrm>
          <a:prstGeom prst="line">
            <a:avLst/>
          </a:prstGeom>
          <a:noFill/>
          <a:ln w="21431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9"/>
          <p:cNvSpPr/>
          <p:nvPr/>
        </p:nvSpPr>
        <p:spPr>
          <a:xfrm>
            <a:off x="4482703" y="1483779"/>
            <a:ext cx="0" cy="3044354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0"/>
          <p:cNvSpPr/>
          <p:nvPr/>
        </p:nvSpPr>
        <p:spPr>
          <a:xfrm>
            <a:off x="514350" y="4524561"/>
            <a:ext cx="3971925" cy="0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1"/>
          <p:cNvSpPr/>
          <p:nvPr/>
        </p:nvSpPr>
        <p:spPr>
          <a:xfrm>
            <a:off x="517922" y="1483779"/>
            <a:ext cx="0" cy="3044354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Text 12"/>
          <p:cNvSpPr/>
          <p:nvPr/>
        </p:nvSpPr>
        <p:spPr>
          <a:xfrm>
            <a:off x="650081" y="1623194"/>
            <a:ext cx="18573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828" dirty="0">
                <a:solidFill>
                  <a:srgbClr val="EF444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</a:t>
            </a:r>
            <a:endParaRPr lang="en-US" sz="1828" dirty="0"/>
          </a:p>
        </p:txBody>
      </p:sp>
      <p:sp>
        <p:nvSpPr>
          <p:cNvPr id="16" name="Text 13"/>
          <p:cNvSpPr/>
          <p:nvPr/>
        </p:nvSpPr>
        <p:spPr>
          <a:xfrm>
            <a:off x="887314" y="1596324"/>
            <a:ext cx="1361393" cy="216402"/>
          </a:xfrm>
          <a:prstGeom prst="roundRect">
            <a:avLst>
              <a:gd name="adj" fmla="val 4397129"/>
            </a:avLst>
          </a:prstGeom>
          <a:solidFill>
            <a:srgbClr val="EF4444">
              <a:alpha val="12000"/>
            </a:srgbClr>
          </a:solidFill>
          <a:ln w="7144">
            <a:solidFill>
              <a:srgbClr val="EF444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1033549" y="1611199"/>
            <a:ext cx="1014078" cy="193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59"/>
              </a:lnSpc>
              <a:buNone/>
            </a:pPr>
            <a:r>
              <a:rPr lang="en-US" sz="800" kern="0" spc="74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DEVTOOLS — VORHER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3921398" y="1655229"/>
            <a:ext cx="455897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619" kern="0" spc="87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STAGE 01</a:t>
            </a:r>
            <a:endParaRPr lang="en-US" sz="619" dirty="0"/>
          </a:p>
        </p:txBody>
      </p:sp>
      <p:sp>
        <p:nvSpPr>
          <p:cNvPr id="19" name="Text 16"/>
          <p:cNvSpPr/>
          <p:nvPr/>
        </p:nvSpPr>
        <p:spPr>
          <a:xfrm>
            <a:off x="650081" y="1898452"/>
            <a:ext cx="3700463" cy="194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18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Das Symptom im Web</a:t>
            </a:r>
            <a:endParaRPr lang="en-US" sz="1181" dirty="0"/>
          </a:p>
        </p:txBody>
      </p:sp>
      <p:sp>
        <p:nvSpPr>
          <p:cNvPr id="20" name="Text 17"/>
          <p:cNvSpPr/>
          <p:nvPr/>
        </p:nvSpPr>
        <p:spPr>
          <a:xfrm>
            <a:off x="650081" y="2178397"/>
            <a:ext cx="370046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Bei Adressabrufen meldeten die DevTools störende Warnungen: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50081" y="2389138"/>
            <a:ext cx="3700463" cy="1491258"/>
          </a:xfrm>
          <a:prstGeom prst="roundRect">
            <a:avLst>
              <a:gd name="adj" fmla="val 5110"/>
            </a:avLst>
          </a:prstGeom>
          <a:solidFill>
            <a:srgbClr val="1A131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19"/>
          <p:cNvSpPr/>
          <p:nvPr/>
        </p:nvSpPr>
        <p:spPr>
          <a:xfrm>
            <a:off x="650081" y="2392710"/>
            <a:ext cx="3700463" cy="0"/>
          </a:xfrm>
          <a:prstGeom prst="line">
            <a:avLst/>
          </a:prstGeom>
          <a:noFill/>
          <a:ln w="7144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Shape 20"/>
          <p:cNvSpPr/>
          <p:nvPr/>
        </p:nvSpPr>
        <p:spPr>
          <a:xfrm>
            <a:off x="4346972" y="2389138"/>
            <a:ext cx="0" cy="1491258"/>
          </a:xfrm>
          <a:prstGeom prst="line">
            <a:avLst/>
          </a:prstGeom>
          <a:noFill/>
          <a:ln w="7144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1"/>
          <p:cNvSpPr/>
          <p:nvPr/>
        </p:nvSpPr>
        <p:spPr>
          <a:xfrm>
            <a:off x="650081" y="3876824"/>
            <a:ext cx="3700463" cy="0"/>
          </a:xfrm>
          <a:prstGeom prst="line">
            <a:avLst/>
          </a:prstGeom>
          <a:noFill/>
          <a:ln w="7144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2"/>
          <p:cNvSpPr/>
          <p:nvPr/>
        </p:nvSpPr>
        <p:spPr>
          <a:xfrm>
            <a:off x="660797" y="2389138"/>
            <a:ext cx="0" cy="1491258"/>
          </a:xfrm>
          <a:prstGeom prst="line">
            <a:avLst/>
          </a:prstGeom>
          <a:noFill/>
          <a:ln w="21431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Shape 23"/>
          <p:cNvSpPr/>
          <p:nvPr/>
        </p:nvSpPr>
        <p:spPr>
          <a:xfrm>
            <a:off x="771525" y="2664172"/>
            <a:ext cx="3471863" cy="0"/>
          </a:xfrm>
          <a:prstGeom prst="line">
            <a:avLst/>
          </a:prstGeom>
          <a:noFill/>
          <a:ln w="7144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4"/>
          <p:cNvSpPr/>
          <p:nvPr/>
        </p:nvSpPr>
        <p:spPr>
          <a:xfrm>
            <a:off x="771525" y="2514154"/>
            <a:ext cx="57150" cy="57150"/>
          </a:xfrm>
          <a:prstGeom prst="ellipse">
            <a:avLst/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871538" y="2514154"/>
            <a:ext cx="57150" cy="57150"/>
          </a:xfrm>
          <a:prstGeom prst="ellipse">
            <a:avLst/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971550" y="2514154"/>
            <a:ext cx="57150" cy="57150"/>
          </a:xfrm>
          <a:prstGeom prst="ellipse">
            <a:avLst/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7"/>
          <p:cNvSpPr/>
          <p:nvPr/>
        </p:nvSpPr>
        <p:spPr>
          <a:xfrm>
            <a:off x="1114425" y="2482007"/>
            <a:ext cx="3128963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56"/>
              </a:lnSpc>
              <a:buNone/>
            </a:pPr>
            <a:r>
              <a:rPr lang="en-US" sz="800" kern="0" spc="9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 · DEVTOOLS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771525" y="2724894"/>
            <a:ext cx="3471863" cy="124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195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console.warn(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771525" y="2876699"/>
            <a:ext cx="3581591" cy="124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195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"Geocoder plugin lookup failed..."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771525" y="3028504"/>
            <a:ext cx="3471863" cy="186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95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771525" y="3332113"/>
            <a:ext cx="3471863" cy="124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195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Error: No results found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771525" y="3483918"/>
            <a:ext cx="3581591" cy="124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195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GeocoderPlugin.lookup (...)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771525" y="3635722"/>
            <a:ext cx="3471863" cy="151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95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reverseGeocode (...)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0081" y="3987552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EF444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1125" dirty="0"/>
          </a:p>
        </p:txBody>
      </p:sp>
      <p:sp>
        <p:nvSpPr>
          <p:cNvPr id="38" name="Text 35"/>
          <p:cNvSpPr/>
          <p:nvPr/>
        </p:nvSpPr>
        <p:spPr>
          <a:xfrm>
            <a:off x="828675" y="3980408"/>
            <a:ext cx="3521869" cy="153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4"/>
              </a:lnSpc>
              <a:buNone/>
            </a:pPr>
            <a:r>
              <a:rPr lang="en-US" sz="73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Native Plugin nutzte Skript mit strengen CORS-Barrieren für OpenStreetMap</a:t>
            </a:r>
            <a:endParaRPr lang="en-US" sz="731" dirty="0"/>
          </a:p>
        </p:txBody>
      </p:sp>
      <p:sp>
        <p:nvSpPr>
          <p:cNvPr id="39" name="Text 36"/>
          <p:cNvSpPr/>
          <p:nvPr/>
        </p:nvSpPr>
        <p:spPr>
          <a:xfrm>
            <a:off x="650081" y="4160341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EF444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⊗</a:t>
            </a:r>
            <a:endParaRPr lang="en-US" sz="1125" dirty="0"/>
          </a:p>
        </p:txBody>
      </p:sp>
      <p:sp>
        <p:nvSpPr>
          <p:cNvPr id="40" name="Text 37"/>
          <p:cNvSpPr/>
          <p:nvPr/>
        </p:nvSpPr>
        <p:spPr>
          <a:xfrm>
            <a:off x="828675" y="4153198"/>
            <a:ext cx="3521869" cy="153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4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Web-Stub-Implementierung war fehlerhaft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4657725" y="1483779"/>
            <a:ext cx="3971925" cy="3044354"/>
          </a:xfrm>
          <a:prstGeom prst="roundRect">
            <a:avLst>
              <a:gd name="adj" fmla="val 4380"/>
            </a:avLst>
          </a:prstGeom>
          <a:solidFill>
            <a:srgbClr val="252B3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Shape 39"/>
          <p:cNvSpPr/>
          <p:nvPr/>
        </p:nvSpPr>
        <p:spPr>
          <a:xfrm>
            <a:off x="4657725" y="1494495"/>
            <a:ext cx="3971925" cy="0"/>
          </a:xfrm>
          <a:prstGeom prst="line">
            <a:avLst/>
          </a:prstGeom>
          <a:noFill/>
          <a:ln w="21431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3" name="Shape 40"/>
          <p:cNvSpPr/>
          <p:nvPr/>
        </p:nvSpPr>
        <p:spPr>
          <a:xfrm>
            <a:off x="8626078" y="1483779"/>
            <a:ext cx="0" cy="3044354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4" name="Shape 41"/>
          <p:cNvSpPr/>
          <p:nvPr/>
        </p:nvSpPr>
        <p:spPr>
          <a:xfrm>
            <a:off x="4657725" y="4524561"/>
            <a:ext cx="3971925" cy="0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5" name="Shape 42"/>
          <p:cNvSpPr/>
          <p:nvPr/>
        </p:nvSpPr>
        <p:spPr>
          <a:xfrm>
            <a:off x="4661297" y="1483779"/>
            <a:ext cx="0" cy="3044354"/>
          </a:xfrm>
          <a:prstGeom prst="line">
            <a:avLst/>
          </a:prstGeom>
          <a:noFill/>
          <a:ln w="7144">
            <a:solidFill>
              <a:srgbClr val="3A41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Text 43"/>
          <p:cNvSpPr/>
          <p:nvPr/>
        </p:nvSpPr>
        <p:spPr>
          <a:xfrm>
            <a:off x="4793456" y="1623194"/>
            <a:ext cx="18573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828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828" dirty="0"/>
          </a:p>
        </p:txBody>
      </p:sp>
      <p:sp>
        <p:nvSpPr>
          <p:cNvPr id="47" name="Text 44"/>
          <p:cNvSpPr/>
          <p:nvPr/>
        </p:nvSpPr>
        <p:spPr>
          <a:xfrm>
            <a:off x="5050631" y="1607917"/>
            <a:ext cx="526852" cy="216402"/>
          </a:xfrm>
          <a:prstGeom prst="roundRect">
            <a:avLst>
              <a:gd name="adj" fmla="val 4397129"/>
            </a:avLst>
          </a:prstGeom>
          <a:solidFill>
            <a:srgbClr val="10B981">
              <a:alpha val="12000"/>
            </a:srgbClr>
          </a:solidFill>
          <a:ln w="7144">
            <a:solidFill>
              <a:srgbClr val="10B98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5"/>
          <p:cNvSpPr/>
          <p:nvPr/>
        </p:nvSpPr>
        <p:spPr>
          <a:xfrm>
            <a:off x="5036120" y="1619510"/>
            <a:ext cx="555874" cy="193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59"/>
              </a:lnSpc>
              <a:buNone/>
            </a:pPr>
            <a:r>
              <a:rPr lang="en-US" sz="800" kern="0" spc="74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NACHHER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8064773" y="1655229"/>
            <a:ext cx="455897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619" kern="0" spc="87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STAGE 02</a:t>
            </a:r>
            <a:endParaRPr lang="en-US" sz="619" dirty="0"/>
          </a:p>
        </p:txBody>
      </p:sp>
      <p:sp>
        <p:nvSpPr>
          <p:cNvPr id="50" name="Text 47"/>
          <p:cNvSpPr/>
          <p:nvPr/>
        </p:nvSpPr>
        <p:spPr>
          <a:xfrm>
            <a:off x="4793456" y="1898452"/>
            <a:ext cx="3700462" cy="194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18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Die Optimierung</a:t>
            </a:r>
            <a:endParaRPr lang="en-US" sz="1181" dirty="0"/>
          </a:p>
        </p:txBody>
      </p:sp>
      <p:sp>
        <p:nvSpPr>
          <p:cNvPr id="51" name="Text 48"/>
          <p:cNvSpPr/>
          <p:nvPr/>
        </p:nvSpPr>
        <p:spPr>
          <a:xfrm>
            <a:off x="4793456" y="2178397"/>
            <a:ext cx="3700463" cy="3226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Im Webbrowser wird das </a:t>
            </a: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Capawesome-Plugin</a:t>
            </a:r>
            <a:r>
              <a:rPr lang="en-US" sz="8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konsequent übersprungen und sofort die </a:t>
            </a: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OpenStreetMap Nominatim-API</a:t>
            </a:r>
            <a:r>
              <a:rPr lang="en-US" sz="8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kontaktiert.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4797028" y="2532013"/>
            <a:ext cx="3693319" cy="1871104"/>
          </a:xfrm>
          <a:prstGeom prst="roundRect">
            <a:avLst>
              <a:gd name="adj" fmla="val 5091"/>
            </a:avLst>
          </a:prstGeom>
          <a:solidFill>
            <a:srgbClr val="161A20"/>
          </a:solidFill>
          <a:ln w="7144">
            <a:solidFill>
              <a:srgbClr val="3A415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50"/>
          <p:cNvSpPr/>
          <p:nvPr/>
        </p:nvSpPr>
        <p:spPr>
          <a:xfrm>
            <a:off x="4914900" y="2510864"/>
            <a:ext cx="3567303" cy="1316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253"/>
              </a:lnSpc>
              <a:buNone/>
            </a:pPr>
            <a:r>
              <a:rPr lang="en-US" sz="800" i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Plattform-Weiche vor Geocoding</a:t>
            </a:r>
            <a:endParaRPr lang="en-US" sz="800" dirty="0"/>
          </a:p>
        </p:txBody>
      </p:sp>
      <p:sp>
        <p:nvSpPr>
          <p:cNvPr id="54" name="Text 51"/>
          <p:cNvSpPr/>
          <p:nvPr/>
        </p:nvSpPr>
        <p:spPr>
          <a:xfrm>
            <a:off x="4914900" y="2669924"/>
            <a:ext cx="3567303" cy="1316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253"/>
              </a:lnSpc>
              <a:buNone/>
            </a:pPr>
            <a:r>
              <a:rPr lang="en-US" sz="8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isNative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Capacitor.</a:t>
            </a: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getPlatform</a:t>
            </a: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4914900" y="2828984"/>
            <a:ext cx="3457575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53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"android"</a:t>
            </a: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4914900" y="3147105"/>
            <a:ext cx="3457575" cy="1316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253"/>
              </a:lnSpc>
              <a:buNone/>
            </a:pPr>
            <a:r>
              <a:rPr lang="en-US" sz="8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8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isNative</a:t>
            </a: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</p:txBody>
      </p:sp>
      <p:sp>
        <p:nvSpPr>
          <p:cNvPr id="57" name="Text 54"/>
          <p:cNvSpPr/>
          <p:nvPr/>
        </p:nvSpPr>
        <p:spPr>
          <a:xfrm>
            <a:off x="4914900" y="3306165"/>
            <a:ext cx="3567303" cy="1316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253"/>
              </a:lnSpc>
              <a:buNone/>
            </a:pPr>
            <a:r>
              <a:rPr lang="en-US" sz="800" i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Native: Capawesome + Google Services</a:t>
            </a:r>
            <a:endParaRPr lang="en-US" sz="800" dirty="0"/>
          </a:p>
        </p:txBody>
      </p:sp>
      <p:sp>
        <p:nvSpPr>
          <p:cNvPr id="58" name="Text 55"/>
          <p:cNvSpPr/>
          <p:nvPr/>
        </p:nvSpPr>
        <p:spPr>
          <a:xfrm>
            <a:off x="4914900" y="3465225"/>
            <a:ext cx="3567303" cy="1316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253"/>
              </a:lnSpc>
              <a:buNone/>
            </a:pPr>
            <a:r>
              <a:rPr lang="en-US" sz="8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Geocoder.</a:t>
            </a: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</a:t>
            </a: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</a:t>
            </a: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4914900" y="3624285"/>
            <a:ext cx="3457575" cy="1316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253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4914900" y="3783345"/>
            <a:ext cx="3567303" cy="1316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253"/>
              </a:lnSpc>
              <a:buNone/>
            </a:pPr>
            <a:r>
              <a:rPr lang="en-US" sz="800" i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Web: direkt OSM Nominatim</a:t>
            </a:r>
            <a:endParaRPr lang="en-US" sz="800" dirty="0"/>
          </a:p>
        </p:txBody>
      </p:sp>
      <p:sp>
        <p:nvSpPr>
          <p:cNvPr id="61" name="Text 58"/>
          <p:cNvSpPr/>
          <p:nvPr/>
        </p:nvSpPr>
        <p:spPr>
          <a:xfrm>
            <a:off x="4914900" y="3942405"/>
            <a:ext cx="3457575" cy="1316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253"/>
              </a:lnSpc>
              <a:buNone/>
            </a:pPr>
            <a:r>
              <a:rPr lang="en-US" sz="8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</a:t>
            </a: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4914900" y="4101465"/>
            <a:ext cx="3567303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53"/>
              </a:lnSpc>
              <a:buNone/>
            </a:pPr>
            <a:r>
              <a:rPr lang="en-US" sz="8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`https://nominatim.../?q=${addr}`</a:t>
            </a:r>
            <a:endParaRPr lang="en-US" sz="800" dirty="0"/>
          </a:p>
        </p:txBody>
      </p:sp>
      <p:sp>
        <p:nvSpPr>
          <p:cNvPr id="63" name="Text 60"/>
          <p:cNvSpPr/>
          <p:nvPr/>
        </p:nvSpPr>
        <p:spPr>
          <a:xfrm>
            <a:off x="4911328" y="4235168"/>
            <a:ext cx="3457575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53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8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 err="1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en-US" sz="800" dirty="0" err="1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800" dirty="0" err="1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()); }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4914900" y="4544318"/>
            <a:ext cx="3457575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53"/>
              </a:lnSpc>
              <a:buNone/>
            </a:pPr>
            <a:endParaRPr lang="en-US" sz="800" dirty="0"/>
          </a:p>
        </p:txBody>
      </p:sp>
      <p:sp>
        <p:nvSpPr>
          <p:cNvPr id="65" name="Text 62"/>
          <p:cNvSpPr/>
          <p:nvPr/>
        </p:nvSpPr>
        <p:spPr>
          <a:xfrm>
            <a:off x="510778" y="4714594"/>
            <a:ext cx="8115300" cy="16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33"/>
              </a:lnSpc>
              <a:buNone/>
            </a:pPr>
            <a:r>
              <a:rPr lang="en-US" sz="800" kern="0" spc="44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✔</a:t>
            </a:r>
            <a:r>
              <a:rPr lang="en-US" sz="800" kern="0" spc="44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Proaktiver Plattform-Check statt blindes Vertrauen in Web-Stubs</a:t>
            </a:r>
            <a:endParaRPr lang="en-US" sz="800" dirty="0"/>
          </a:p>
        </p:txBody>
      </p:sp>
      <p:sp>
        <p:nvSpPr>
          <p:cNvPr id="66" name="Text 63"/>
          <p:cNvSpPr/>
          <p:nvPr/>
        </p:nvSpPr>
        <p:spPr>
          <a:xfrm>
            <a:off x="205636" y="157163"/>
            <a:ext cx="886765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800" kern="0" spc="111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CHALLENGE 02</a:t>
            </a:r>
            <a:endParaRPr lang="en-US" sz="800" dirty="0"/>
          </a:p>
        </p:txBody>
      </p:sp>
      <p:sp>
        <p:nvSpPr>
          <p:cNvPr id="67" name="Text 64"/>
          <p:cNvSpPr/>
          <p:nvPr/>
        </p:nvSpPr>
        <p:spPr>
          <a:xfrm>
            <a:off x="8541246" y="157163"/>
            <a:ext cx="560939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800" kern="0" spc="111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07 / 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-3683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572375" y="-857250"/>
            <a:ext cx="2286000" cy="2286000"/>
          </a:xfrm>
          <a:prstGeom prst="ellipse">
            <a:avLst/>
          </a:prstGeom>
          <a:solidFill>
            <a:srgbClr val="38BDF8">
              <a:alpha val="18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-571500" y="4000500"/>
            <a:ext cx="2000250" cy="2000250"/>
          </a:xfrm>
          <a:prstGeom prst="ellipse">
            <a:avLst/>
          </a:prstGeom>
          <a:solidFill>
            <a:srgbClr val="10B98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514350" y="400050"/>
            <a:ext cx="342900" cy="28575"/>
          </a:xfrm>
          <a:prstGeom prst="roundRect">
            <a:avLst>
              <a:gd name="adj" fmla="val 66667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514350" y="528638"/>
            <a:ext cx="8629650" cy="3611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23"/>
              </a:lnSpc>
              <a:buNone/>
            </a:pPr>
            <a:r>
              <a:rPr lang="en-US" sz="2475" b="1" kern="0" spc="-25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Security &amp; Best Practices in Git</a:t>
            </a:r>
            <a:endParaRPr lang="en-US" sz="2475" dirty="0"/>
          </a:p>
        </p:txBody>
      </p:sp>
      <p:sp>
        <p:nvSpPr>
          <p:cNvPr id="7" name="Text 4"/>
          <p:cNvSpPr/>
          <p:nvPr/>
        </p:nvSpPr>
        <p:spPr>
          <a:xfrm>
            <a:off x="514350" y="917191"/>
            <a:ext cx="8115300" cy="218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5"/>
              </a:lnSpc>
              <a:buNone/>
            </a:pPr>
            <a:r>
              <a:rPr lang="en-US" sz="1181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Schutz sensibler Token — Developer Experience für Gutachter</a:t>
            </a:r>
            <a:endParaRPr lang="en-US" sz="1181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350" y="1276834"/>
            <a:ext cx="3177518" cy="106977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17922" y="1280406"/>
            <a:ext cx="3170374" cy="1062633"/>
          </a:xfrm>
          <a:prstGeom prst="roundRect">
            <a:avLst>
              <a:gd name="adj" fmla="val 12549"/>
            </a:avLst>
          </a:prstGeom>
          <a:noFill/>
          <a:ln w="7144">
            <a:solidFill>
              <a:srgbClr val="F59E0B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664369" y="1412565"/>
            <a:ext cx="40005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⚿</a:t>
            </a:r>
            <a:endParaRPr lang="en-US" sz="1125" dirty="0"/>
          </a:p>
        </p:txBody>
      </p:sp>
      <p:sp>
        <p:nvSpPr>
          <p:cNvPr id="11" name="Text 7"/>
          <p:cNvSpPr/>
          <p:nvPr/>
        </p:nvSpPr>
        <p:spPr>
          <a:xfrm>
            <a:off x="1164431" y="1412565"/>
            <a:ext cx="2377418" cy="194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18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Die Gefahr</a:t>
            </a:r>
            <a:endParaRPr lang="en-US" sz="1181" dirty="0"/>
          </a:p>
        </p:txBody>
      </p:sp>
      <p:sp>
        <p:nvSpPr>
          <p:cNvPr id="12" name="Text 8"/>
          <p:cNvSpPr/>
          <p:nvPr/>
        </p:nvSpPr>
        <p:spPr>
          <a:xfrm>
            <a:off x="1164431" y="1635361"/>
            <a:ext cx="2377418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Das private Plugin </a:t>
            </a: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@capawesome-team/capacitor-geocoder</a:t>
            </a: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erfordert die Einbindung eines geschützten GitHub-Tokens im Projekt (</a:t>
            </a: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.npmrc</a:t>
            </a: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). Ein unbeabsichtigter Commit führt sofort zum Token-Leak!</a:t>
            </a:r>
            <a:endParaRPr lang="en-US" sz="8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350" y="2446623"/>
            <a:ext cx="3177518" cy="108942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17922" y="2450195"/>
            <a:ext cx="3170374" cy="1082278"/>
          </a:xfrm>
          <a:prstGeom prst="roundRect">
            <a:avLst>
              <a:gd name="adj" fmla="val 12321"/>
            </a:avLst>
          </a:prstGeom>
          <a:noFill/>
          <a:ln w="7144">
            <a:solidFill>
              <a:srgbClr val="10B98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0"/>
          <p:cNvSpPr/>
          <p:nvPr/>
        </p:nvSpPr>
        <p:spPr>
          <a:xfrm>
            <a:off x="664369" y="2568067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⛨</a:t>
            </a:r>
            <a:endParaRPr lang="en-US" sz="1125" dirty="0"/>
          </a:p>
        </p:txBody>
      </p:sp>
      <p:sp>
        <p:nvSpPr>
          <p:cNvPr id="16" name="Text 11"/>
          <p:cNvSpPr/>
          <p:nvPr/>
        </p:nvSpPr>
        <p:spPr>
          <a:xfrm>
            <a:off x="992981" y="2606687"/>
            <a:ext cx="2548868" cy="194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18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Schutzmaßnahmen</a:t>
            </a:r>
            <a:endParaRPr lang="en-US" sz="1181" dirty="0"/>
          </a:p>
        </p:txBody>
      </p:sp>
      <p:sp>
        <p:nvSpPr>
          <p:cNvPr id="17" name="Text 12"/>
          <p:cNvSpPr/>
          <p:nvPr/>
        </p:nvSpPr>
        <p:spPr>
          <a:xfrm>
            <a:off x="664369" y="2896679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66" dirty="0"/>
          </a:p>
        </p:txBody>
      </p:sp>
      <p:sp>
        <p:nvSpPr>
          <p:cNvPr id="18" name="Text 13"/>
          <p:cNvSpPr/>
          <p:nvPr/>
        </p:nvSpPr>
        <p:spPr>
          <a:xfrm>
            <a:off x="864394" y="2896679"/>
            <a:ext cx="267745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73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API-Schlüssel strikt in </a:t>
            </a:r>
            <a:r>
              <a:rPr lang="en-US" sz="73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.gitignore</a:t>
            </a:r>
            <a:r>
              <a:rPr lang="en-US" sz="73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verankert (</a:t>
            </a:r>
            <a:r>
              <a:rPr lang="en-US" sz="73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.npmrc</a:t>
            </a:r>
            <a:r>
              <a:rPr lang="en-US" sz="73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)</a:t>
            </a:r>
            <a:endParaRPr lang="en-US" sz="731" dirty="0"/>
          </a:p>
        </p:txBody>
      </p:sp>
      <p:sp>
        <p:nvSpPr>
          <p:cNvPr id="19" name="Text 14"/>
          <p:cNvSpPr/>
          <p:nvPr/>
        </p:nvSpPr>
        <p:spPr>
          <a:xfrm>
            <a:off x="664369" y="3085988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66" dirty="0"/>
          </a:p>
        </p:txBody>
      </p:sp>
      <p:sp>
        <p:nvSpPr>
          <p:cNvPr id="20" name="Text 15"/>
          <p:cNvSpPr/>
          <p:nvPr/>
        </p:nvSpPr>
        <p:spPr>
          <a:xfrm>
            <a:off x="864394" y="3085988"/>
            <a:ext cx="267745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Repository-Verifizierung vor Initial-Commit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664369" y="3275298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66" dirty="0"/>
          </a:p>
        </p:txBody>
      </p:sp>
      <p:sp>
        <p:nvSpPr>
          <p:cNvPr id="22" name="Text 17"/>
          <p:cNvSpPr/>
          <p:nvPr/>
        </p:nvSpPr>
        <p:spPr>
          <a:xfrm>
            <a:off x="864394" y="3275298"/>
            <a:ext cx="2677455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73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Saubere </a:t>
            </a:r>
            <a:r>
              <a:rPr lang="en-US" sz="73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r>
              <a:rPr lang="en-US" sz="73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mit Schritt-für-Schritt-Anleitung</a:t>
            </a:r>
            <a:endParaRPr lang="en-US" sz="731" dirty="0"/>
          </a:p>
        </p:txBody>
      </p:sp>
      <p:sp>
        <p:nvSpPr>
          <p:cNvPr id="23" name="Text 18"/>
          <p:cNvSpPr/>
          <p:nvPr/>
        </p:nvSpPr>
        <p:spPr>
          <a:xfrm>
            <a:off x="3863318" y="1305409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1125" dirty="0"/>
          </a:p>
        </p:txBody>
      </p:sp>
      <p:sp>
        <p:nvSpPr>
          <p:cNvPr id="24" name="Text 19"/>
          <p:cNvSpPr/>
          <p:nvPr/>
        </p:nvSpPr>
        <p:spPr>
          <a:xfrm>
            <a:off x="4034768" y="1290675"/>
            <a:ext cx="97958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73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project/.gitignore</a:t>
            </a:r>
            <a:endParaRPr lang="en-US" sz="731" dirty="0"/>
          </a:p>
        </p:txBody>
      </p:sp>
      <p:sp>
        <p:nvSpPr>
          <p:cNvPr id="25" name="Text 20"/>
          <p:cNvSpPr/>
          <p:nvPr/>
        </p:nvSpPr>
        <p:spPr>
          <a:xfrm>
            <a:off x="3866890" y="1495276"/>
            <a:ext cx="4759189" cy="1635919"/>
          </a:xfrm>
          <a:prstGeom prst="roundRect">
            <a:avLst>
              <a:gd name="adj" fmla="val 5822"/>
            </a:avLst>
          </a:prstGeom>
          <a:solidFill>
            <a:srgbClr val="161A20"/>
          </a:solidFill>
          <a:ln w="7144">
            <a:solidFill>
              <a:srgbClr val="3A415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1"/>
          <p:cNvSpPr/>
          <p:nvPr/>
        </p:nvSpPr>
        <p:spPr>
          <a:xfrm>
            <a:off x="3984761" y="1620292"/>
            <a:ext cx="1588437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800" i="1" dirty="0">
                <a:solidFill>
                  <a:srgbClr val="64748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# ─── Secrets &amp; Tokens ───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3984761" y="1763167"/>
            <a:ext cx="411623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.npmrc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3984761" y="1906042"/>
            <a:ext cx="338790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.env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3984761" y="2048917"/>
            <a:ext cx="411623" cy="122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.env.*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3984761" y="2334667"/>
            <a:ext cx="1527231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800" i="1" dirty="0">
                <a:solidFill>
                  <a:srgbClr val="64748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# ─── Build Artifacts ───</a:t>
            </a:r>
            <a:endParaRPr lang="en-US" sz="800" dirty="0"/>
          </a:p>
        </p:txBody>
      </p:sp>
      <p:sp>
        <p:nvSpPr>
          <p:cNvPr id="31" name="Text 26"/>
          <p:cNvSpPr/>
          <p:nvPr/>
        </p:nvSpPr>
        <p:spPr>
          <a:xfrm>
            <a:off x="3984761" y="2477542"/>
            <a:ext cx="423444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dist/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3984761" y="2620417"/>
            <a:ext cx="1130546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android/app/build/</a:t>
            </a:r>
            <a:endParaRPr lang="en-US" sz="800" dirty="0"/>
          </a:p>
        </p:txBody>
      </p:sp>
      <p:sp>
        <p:nvSpPr>
          <p:cNvPr id="33" name="Text 28"/>
          <p:cNvSpPr/>
          <p:nvPr/>
        </p:nvSpPr>
        <p:spPr>
          <a:xfrm>
            <a:off x="3984761" y="2763292"/>
            <a:ext cx="423444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*.apk</a:t>
            </a:r>
            <a:endParaRPr lang="en-US" sz="800" dirty="0"/>
          </a:p>
        </p:txBody>
      </p:sp>
      <p:sp>
        <p:nvSpPr>
          <p:cNvPr id="34" name="Text 29"/>
          <p:cNvSpPr/>
          <p:nvPr/>
        </p:nvSpPr>
        <p:spPr>
          <a:xfrm>
            <a:off x="3984761" y="2906167"/>
            <a:ext cx="81657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node_modules/</a:t>
            </a:r>
            <a:endParaRPr lang="en-US" sz="800" dirty="0"/>
          </a:p>
        </p:txBody>
      </p:sp>
      <p:sp>
        <p:nvSpPr>
          <p:cNvPr id="35" name="Text 30"/>
          <p:cNvSpPr/>
          <p:nvPr/>
        </p:nvSpPr>
        <p:spPr>
          <a:xfrm>
            <a:off x="3863318" y="3234779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1125" dirty="0"/>
          </a:p>
        </p:txBody>
      </p:sp>
      <p:sp>
        <p:nvSpPr>
          <p:cNvPr id="36" name="Text 31"/>
          <p:cNvSpPr/>
          <p:nvPr/>
        </p:nvSpPr>
        <p:spPr>
          <a:xfrm>
            <a:off x="4034768" y="3220045"/>
            <a:ext cx="92515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73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project/README.md</a:t>
            </a:r>
            <a:endParaRPr lang="en-US" sz="731" dirty="0"/>
          </a:p>
        </p:txBody>
      </p:sp>
      <p:sp>
        <p:nvSpPr>
          <p:cNvPr id="37" name="Text 32"/>
          <p:cNvSpPr/>
          <p:nvPr/>
        </p:nvSpPr>
        <p:spPr>
          <a:xfrm>
            <a:off x="3866890" y="3424647"/>
            <a:ext cx="4759189" cy="1207294"/>
          </a:xfrm>
          <a:prstGeom prst="roundRect">
            <a:avLst>
              <a:gd name="adj" fmla="val 7890"/>
            </a:avLst>
          </a:prstGeom>
          <a:solidFill>
            <a:srgbClr val="161A20"/>
          </a:solidFill>
          <a:ln w="7144">
            <a:solidFill>
              <a:srgbClr val="3A415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3"/>
          <p:cNvSpPr/>
          <p:nvPr/>
        </p:nvSpPr>
        <p:spPr>
          <a:xfrm>
            <a:off x="3984761" y="3549662"/>
            <a:ext cx="1104194" cy="122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800" i="1" dirty="0">
                <a:solidFill>
                  <a:srgbClr val="64748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# Map App — Setup</a:t>
            </a:r>
            <a:endParaRPr lang="en-US" sz="800" dirty="0"/>
          </a:p>
        </p:txBody>
      </p:sp>
      <p:sp>
        <p:nvSpPr>
          <p:cNvPr id="39" name="Text 34"/>
          <p:cNvSpPr/>
          <p:nvPr/>
        </p:nvSpPr>
        <p:spPr>
          <a:xfrm>
            <a:off x="3984761" y="3835412"/>
            <a:ext cx="171629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800" dirty="0">
                <a:solidFill>
                  <a:srgbClr val="C084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1.</a:t>
            </a:r>
            <a:endParaRPr lang="en-US" sz="800" dirty="0"/>
          </a:p>
        </p:txBody>
      </p:sp>
      <p:sp>
        <p:nvSpPr>
          <p:cNvPr id="40" name="Text 35"/>
          <p:cNvSpPr/>
          <p:nvPr/>
        </p:nvSpPr>
        <p:spPr>
          <a:xfrm>
            <a:off x="3984761" y="3978287"/>
            <a:ext cx="171629" cy="122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800" dirty="0">
                <a:solidFill>
                  <a:srgbClr val="C084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2.</a:t>
            </a:r>
            <a:endParaRPr lang="en-US" sz="800" dirty="0"/>
          </a:p>
        </p:txBody>
      </p:sp>
      <p:sp>
        <p:nvSpPr>
          <p:cNvPr id="41" name="Text 36"/>
          <p:cNvSpPr/>
          <p:nvPr/>
        </p:nvSpPr>
        <p:spPr>
          <a:xfrm>
            <a:off x="4145719" y="3978287"/>
            <a:ext cx="411623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.npmrc</a:t>
            </a:r>
            <a:endParaRPr lang="en-US" sz="800" dirty="0"/>
          </a:p>
        </p:txBody>
      </p:sp>
      <p:sp>
        <p:nvSpPr>
          <p:cNvPr id="42" name="Text 37"/>
          <p:cNvSpPr/>
          <p:nvPr/>
        </p:nvSpPr>
        <p:spPr>
          <a:xfrm>
            <a:off x="3984761" y="4121162"/>
            <a:ext cx="171629" cy="122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800" dirty="0">
                <a:solidFill>
                  <a:srgbClr val="C084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3.</a:t>
            </a:r>
            <a:endParaRPr lang="en-US" sz="800" dirty="0"/>
          </a:p>
        </p:txBody>
      </p:sp>
      <p:sp>
        <p:nvSpPr>
          <p:cNvPr id="43" name="Text 38"/>
          <p:cNvSpPr/>
          <p:nvPr/>
        </p:nvSpPr>
        <p:spPr>
          <a:xfrm>
            <a:off x="4144876" y="4121162"/>
            <a:ext cx="692546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npm install</a:t>
            </a:r>
            <a:endParaRPr lang="en-US" sz="800" dirty="0"/>
          </a:p>
        </p:txBody>
      </p:sp>
      <p:sp>
        <p:nvSpPr>
          <p:cNvPr id="44" name="Text 39"/>
          <p:cNvSpPr/>
          <p:nvPr/>
        </p:nvSpPr>
        <p:spPr>
          <a:xfrm>
            <a:off x="3984761" y="4264037"/>
            <a:ext cx="171629" cy="122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800" dirty="0">
                <a:solidFill>
                  <a:srgbClr val="C084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4.</a:t>
            </a:r>
            <a:endParaRPr lang="en-US" sz="800" dirty="0"/>
          </a:p>
        </p:txBody>
      </p:sp>
      <p:sp>
        <p:nvSpPr>
          <p:cNvPr id="45" name="Text 40"/>
          <p:cNvSpPr/>
          <p:nvPr/>
        </p:nvSpPr>
        <p:spPr>
          <a:xfrm>
            <a:off x="4145719" y="4264037"/>
            <a:ext cx="816578" cy="122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npm run build</a:t>
            </a:r>
            <a:endParaRPr lang="en-US" sz="800" dirty="0"/>
          </a:p>
        </p:txBody>
      </p:sp>
      <p:sp>
        <p:nvSpPr>
          <p:cNvPr id="46" name="Text 41"/>
          <p:cNvSpPr/>
          <p:nvPr/>
        </p:nvSpPr>
        <p:spPr>
          <a:xfrm>
            <a:off x="5056882" y="4264037"/>
            <a:ext cx="753654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npx cap sync</a:t>
            </a:r>
            <a:endParaRPr lang="en-US" sz="800" dirty="0"/>
          </a:p>
        </p:txBody>
      </p:sp>
      <p:sp>
        <p:nvSpPr>
          <p:cNvPr id="47" name="Text 42"/>
          <p:cNvSpPr/>
          <p:nvPr/>
        </p:nvSpPr>
        <p:spPr>
          <a:xfrm>
            <a:off x="3984761" y="4406912"/>
            <a:ext cx="171629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800" dirty="0">
                <a:solidFill>
                  <a:srgbClr val="C084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5.</a:t>
            </a:r>
            <a:endParaRPr lang="en-US" sz="800" dirty="0"/>
          </a:p>
        </p:txBody>
      </p:sp>
      <p:sp>
        <p:nvSpPr>
          <p:cNvPr id="48" name="Text 43"/>
          <p:cNvSpPr/>
          <p:nvPr/>
        </p:nvSpPr>
        <p:spPr>
          <a:xfrm>
            <a:off x="4145719" y="4406912"/>
            <a:ext cx="1355772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./gradlew assembleDebug</a:t>
            </a:r>
            <a:endParaRPr lang="en-US" sz="800" dirty="0"/>
          </a:p>
        </p:txBody>
      </p:sp>
      <p:sp>
        <p:nvSpPr>
          <p:cNvPr id="49" name="Text 44"/>
          <p:cNvSpPr/>
          <p:nvPr/>
        </p:nvSpPr>
        <p:spPr>
          <a:xfrm>
            <a:off x="228600" y="157163"/>
            <a:ext cx="910943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800" kern="0" spc="11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 &amp; DX</a:t>
            </a:r>
            <a:endParaRPr lang="en-US" sz="800" dirty="0"/>
          </a:p>
        </p:txBody>
      </p:sp>
      <p:sp>
        <p:nvSpPr>
          <p:cNvPr id="50" name="Text 45"/>
          <p:cNvSpPr/>
          <p:nvPr/>
        </p:nvSpPr>
        <p:spPr>
          <a:xfrm>
            <a:off x="8541246" y="157163"/>
            <a:ext cx="560939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800" kern="0" spc="111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-714375" y="-928687"/>
            <a:ext cx="2428875" cy="2428875"/>
          </a:xfrm>
          <a:prstGeom prst="ellipse">
            <a:avLst/>
          </a:prstGeom>
          <a:solidFill>
            <a:srgbClr val="10B98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7643813" y="4000500"/>
            <a:ext cx="2143125" cy="2143125"/>
          </a:xfrm>
          <a:prstGeom prst="ellipse">
            <a:avLst/>
          </a:prstGeom>
          <a:solidFill>
            <a:srgbClr val="38BDF8">
              <a:alpha val="18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514350" y="482315"/>
            <a:ext cx="342900" cy="28575"/>
          </a:xfrm>
          <a:prstGeom prst="roundRect">
            <a:avLst>
              <a:gd name="adj" fmla="val 66667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957263" y="388457"/>
            <a:ext cx="1108174" cy="216402"/>
          </a:xfrm>
          <a:prstGeom prst="roundRect">
            <a:avLst>
              <a:gd name="adj" fmla="val 4397129"/>
            </a:avLst>
          </a:prstGeom>
          <a:solidFill>
            <a:srgbClr val="10B981">
              <a:alpha val="12000"/>
            </a:srgbClr>
          </a:solidFill>
          <a:ln w="7144">
            <a:solidFill>
              <a:srgbClr val="10B98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193006" y="442913"/>
            <a:ext cx="7436644" cy="139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800" kern="0" spc="74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SUCCESSFUL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50131" y="446596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84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984" dirty="0"/>
          </a:p>
        </p:txBody>
      </p:sp>
      <p:sp>
        <p:nvSpPr>
          <p:cNvPr id="9" name="Text 6"/>
          <p:cNvSpPr/>
          <p:nvPr/>
        </p:nvSpPr>
        <p:spPr>
          <a:xfrm>
            <a:off x="514350" y="650416"/>
            <a:ext cx="8629650" cy="3611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23"/>
              </a:lnSpc>
              <a:buNone/>
            </a:pPr>
            <a:r>
              <a:rPr lang="en-US" sz="2475" b="1" kern="0" spc="-25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Ergebnis &amp; Qualitätskontrolle</a:t>
            </a:r>
            <a:endParaRPr lang="en-US" sz="2475" dirty="0"/>
          </a:p>
        </p:txBody>
      </p:sp>
      <p:sp>
        <p:nvSpPr>
          <p:cNvPr id="10" name="Text 7"/>
          <p:cNvSpPr/>
          <p:nvPr/>
        </p:nvSpPr>
        <p:spPr>
          <a:xfrm>
            <a:off x="514350" y="1038969"/>
            <a:ext cx="8115300" cy="218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5"/>
              </a:lnSpc>
              <a:buNone/>
            </a:pPr>
            <a:r>
              <a:rPr lang="en-US" sz="1181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Lückenlose Verifikation — Web Build, Capacitor Sync, Gradle Assemble</a:t>
            </a:r>
            <a:endParaRPr lang="en-US" sz="1181" dirty="0"/>
          </a:p>
        </p:txBody>
      </p:sp>
      <p:sp>
        <p:nvSpPr>
          <p:cNvPr id="11" name="Text 8"/>
          <p:cNvSpPr/>
          <p:nvPr/>
        </p:nvSpPr>
        <p:spPr>
          <a:xfrm>
            <a:off x="517922" y="1416472"/>
            <a:ext cx="2602669" cy="3050939"/>
          </a:xfrm>
          <a:prstGeom prst="roundRect">
            <a:avLst>
              <a:gd name="adj" fmla="val 5856"/>
            </a:avLst>
          </a:prstGeom>
          <a:solidFill>
            <a:srgbClr val="252B34"/>
          </a:solidFill>
          <a:ln w="7144">
            <a:solidFill>
              <a:srgbClr val="3A415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2684788" y="1565613"/>
            <a:ext cx="286041" cy="216402"/>
          </a:xfrm>
          <a:prstGeom prst="roundRect">
            <a:avLst>
              <a:gd name="adj" fmla="val 4397129"/>
            </a:avLst>
          </a:prstGeom>
          <a:solidFill>
            <a:srgbClr val="10B981">
              <a:alpha val="12000"/>
            </a:srgbClr>
          </a:solidFill>
          <a:ln w="7144">
            <a:solidFill>
              <a:srgbClr val="10B98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2667186" y="1577206"/>
            <a:ext cx="264096" cy="193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59"/>
              </a:lnSpc>
              <a:buNone/>
            </a:pPr>
            <a:r>
              <a:rPr lang="en-US" sz="800" kern="0" spc="111" dirty="0">
                <a:solidFill>
                  <a:srgbClr val="10B981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710803" y="1623640"/>
            <a:ext cx="450056" cy="450056"/>
          </a:xfrm>
          <a:prstGeom prst="ellipse">
            <a:avLst/>
          </a:prstGeom>
          <a:solidFill>
            <a:srgbClr val="10B981">
              <a:alpha val="12000"/>
            </a:srgbClr>
          </a:solidFill>
          <a:ln w="7144">
            <a:solidFill>
              <a:srgbClr val="10B981"/>
            </a:solidFill>
            <a:prstDash val="solid"/>
          </a:ln>
          <a:effectLst>
            <a:outerShdw blurRad="228600" dist="50800" dir="16200000" algn="bl" rotWithShape="0">
              <a:srgbClr val="10B981">
                <a:alpha val="18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739021" y="1651858"/>
            <a:ext cx="393621" cy="3936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672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2672" dirty="0"/>
          </a:p>
        </p:txBody>
      </p:sp>
      <p:sp>
        <p:nvSpPr>
          <p:cNvPr id="16" name="Text 13"/>
          <p:cNvSpPr/>
          <p:nvPr/>
        </p:nvSpPr>
        <p:spPr>
          <a:xfrm>
            <a:off x="707231" y="2177281"/>
            <a:ext cx="2224050" cy="194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18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Web Build</a:t>
            </a:r>
            <a:endParaRPr lang="en-US" sz="1181" dirty="0"/>
          </a:p>
        </p:txBody>
      </p:sp>
      <p:sp>
        <p:nvSpPr>
          <p:cNvPr id="17" name="Text 14"/>
          <p:cNvSpPr/>
          <p:nvPr/>
        </p:nvSpPr>
        <p:spPr>
          <a:xfrm>
            <a:off x="684371" y="2444425"/>
            <a:ext cx="1006554" cy="269495"/>
          </a:xfrm>
          <a:prstGeom prst="roundRect">
            <a:avLst>
              <a:gd name="adj" fmla="val 28275"/>
            </a:avLst>
          </a:prstGeom>
          <a:solidFill>
            <a:srgbClr val="38BDF8">
              <a:alpha val="12000"/>
            </a:srgbClr>
          </a:solidFill>
          <a:ln w="7144">
            <a:solidFill>
              <a:srgbClr val="38BDF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913024" y="2514377"/>
            <a:ext cx="720699" cy="143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73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731" dirty="0"/>
          </a:p>
        </p:txBody>
      </p:sp>
      <p:sp>
        <p:nvSpPr>
          <p:cNvPr id="19" name="Text 16"/>
          <p:cNvSpPr/>
          <p:nvPr/>
        </p:nvSpPr>
        <p:spPr>
          <a:xfrm>
            <a:off x="800100" y="2521967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20" name="Text 17"/>
          <p:cNvSpPr/>
          <p:nvPr/>
        </p:nvSpPr>
        <p:spPr>
          <a:xfrm>
            <a:off x="707231" y="2801131"/>
            <a:ext cx="2224050" cy="351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Keine Typisierungsfehler, fehlerfrei optimiertes Vite Production-Bundle.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84371" y="4057796"/>
            <a:ext cx="1036357" cy="247394"/>
          </a:xfrm>
          <a:prstGeom prst="roundRect">
            <a:avLst>
              <a:gd name="adj" fmla="val 3846284"/>
            </a:avLst>
          </a:prstGeom>
          <a:solidFill>
            <a:srgbClr val="10B981">
              <a:alpha val="12000"/>
            </a:srgbClr>
          </a:solidFill>
          <a:ln w="7144">
            <a:solidFill>
              <a:srgbClr val="10B98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941722" y="4127748"/>
            <a:ext cx="664530" cy="139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619" kern="0" spc="74" dirty="0">
                <a:solidFill>
                  <a:srgbClr val="10B981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BUNDLE &lt; 1 MB</a:t>
            </a:r>
            <a:endParaRPr lang="en-US" sz="619" dirty="0"/>
          </a:p>
        </p:txBody>
      </p:sp>
      <p:sp>
        <p:nvSpPr>
          <p:cNvPr id="23" name="Text 20"/>
          <p:cNvSpPr/>
          <p:nvPr/>
        </p:nvSpPr>
        <p:spPr>
          <a:xfrm>
            <a:off x="814388" y="4131432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84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984" dirty="0"/>
          </a:p>
        </p:txBody>
      </p:sp>
      <p:sp>
        <p:nvSpPr>
          <p:cNvPr id="24" name="Text 21"/>
          <p:cNvSpPr/>
          <p:nvPr/>
        </p:nvSpPr>
        <p:spPr>
          <a:xfrm>
            <a:off x="3270610" y="1416472"/>
            <a:ext cx="2602669" cy="3050939"/>
          </a:xfrm>
          <a:prstGeom prst="roundRect">
            <a:avLst>
              <a:gd name="adj" fmla="val 5856"/>
            </a:avLst>
          </a:prstGeom>
          <a:solidFill>
            <a:srgbClr val="252B34"/>
          </a:solidFill>
          <a:ln w="7144">
            <a:solidFill>
              <a:srgbClr val="3A415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437476" y="1565613"/>
            <a:ext cx="286041" cy="216402"/>
          </a:xfrm>
          <a:prstGeom prst="roundRect">
            <a:avLst>
              <a:gd name="adj" fmla="val 4397129"/>
            </a:avLst>
          </a:prstGeom>
          <a:solidFill>
            <a:srgbClr val="10B981">
              <a:alpha val="12000"/>
            </a:srgbClr>
          </a:solidFill>
          <a:ln w="7144">
            <a:solidFill>
              <a:srgbClr val="10B98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5419874" y="1577206"/>
            <a:ext cx="264096" cy="193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59"/>
              </a:lnSpc>
              <a:buNone/>
            </a:pPr>
            <a:r>
              <a:rPr lang="en-US" sz="800" kern="0" spc="111" dirty="0">
                <a:solidFill>
                  <a:srgbClr val="10B981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3463491" y="1623640"/>
            <a:ext cx="450056" cy="450056"/>
          </a:xfrm>
          <a:prstGeom prst="ellipse">
            <a:avLst/>
          </a:prstGeom>
          <a:solidFill>
            <a:srgbClr val="10B981">
              <a:alpha val="12000"/>
            </a:srgbClr>
          </a:solidFill>
          <a:ln w="7144">
            <a:solidFill>
              <a:srgbClr val="10B981"/>
            </a:solidFill>
            <a:prstDash val="solid"/>
          </a:ln>
          <a:effectLst>
            <a:outerShdw blurRad="228600" dist="50800" dir="16200000" algn="bl" rotWithShape="0">
              <a:srgbClr val="10B981">
                <a:alpha val="18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3491709" y="1651858"/>
            <a:ext cx="393621" cy="3936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672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2672" dirty="0"/>
          </a:p>
        </p:txBody>
      </p:sp>
      <p:sp>
        <p:nvSpPr>
          <p:cNvPr id="29" name="Text 26"/>
          <p:cNvSpPr/>
          <p:nvPr/>
        </p:nvSpPr>
        <p:spPr>
          <a:xfrm>
            <a:off x="3459919" y="2177281"/>
            <a:ext cx="2224050" cy="194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18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Capacitor Sync</a:t>
            </a:r>
            <a:endParaRPr lang="en-US" sz="1181" dirty="0"/>
          </a:p>
        </p:txBody>
      </p:sp>
      <p:sp>
        <p:nvSpPr>
          <p:cNvPr id="30" name="Text 27"/>
          <p:cNvSpPr/>
          <p:nvPr/>
        </p:nvSpPr>
        <p:spPr>
          <a:xfrm>
            <a:off x="3437059" y="2444425"/>
            <a:ext cx="960120" cy="269495"/>
          </a:xfrm>
          <a:prstGeom prst="roundRect">
            <a:avLst>
              <a:gd name="adj" fmla="val 28275"/>
            </a:avLst>
          </a:prstGeom>
          <a:solidFill>
            <a:srgbClr val="38BDF8">
              <a:alpha val="12000"/>
            </a:srgbClr>
          </a:solidFill>
          <a:ln w="7144">
            <a:solidFill>
              <a:srgbClr val="38BDF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3670987" y="2514377"/>
            <a:ext cx="663714" cy="143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73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cap sync</a:t>
            </a:r>
            <a:endParaRPr lang="en-US" sz="731" dirty="0"/>
          </a:p>
        </p:txBody>
      </p:sp>
      <p:sp>
        <p:nvSpPr>
          <p:cNvPr id="32" name="Text 29"/>
          <p:cNvSpPr/>
          <p:nvPr/>
        </p:nvSpPr>
        <p:spPr>
          <a:xfrm>
            <a:off x="3552788" y="2521967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33" name="Text 30"/>
          <p:cNvSpPr/>
          <p:nvPr/>
        </p:nvSpPr>
        <p:spPr>
          <a:xfrm>
            <a:off x="3459919" y="2801131"/>
            <a:ext cx="2224050" cy="351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Nahtloses Koppeln an Android-spezifische Manifeste und Plugin-Abhilfen.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3437059" y="4057796"/>
            <a:ext cx="1252387" cy="247394"/>
          </a:xfrm>
          <a:prstGeom prst="roundRect">
            <a:avLst>
              <a:gd name="adj" fmla="val 3846284"/>
            </a:avLst>
          </a:prstGeom>
          <a:solidFill>
            <a:srgbClr val="10B981">
              <a:alpha val="12000"/>
            </a:srgbClr>
          </a:solidFill>
          <a:ln w="7144">
            <a:solidFill>
              <a:srgbClr val="10B98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2"/>
          <p:cNvSpPr/>
          <p:nvPr/>
        </p:nvSpPr>
        <p:spPr>
          <a:xfrm>
            <a:off x="3709950" y="4127748"/>
            <a:ext cx="770186" cy="139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619" kern="0" spc="74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NATIVE BRIDGE ✓</a:t>
            </a:r>
            <a:endParaRPr lang="en-US" sz="619" dirty="0"/>
          </a:p>
        </p:txBody>
      </p:sp>
      <p:sp>
        <p:nvSpPr>
          <p:cNvPr id="36" name="Text 33"/>
          <p:cNvSpPr/>
          <p:nvPr/>
        </p:nvSpPr>
        <p:spPr>
          <a:xfrm>
            <a:off x="3567075" y="4131432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84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984" dirty="0"/>
          </a:p>
        </p:txBody>
      </p:sp>
      <p:sp>
        <p:nvSpPr>
          <p:cNvPr id="37" name="Text 34"/>
          <p:cNvSpPr/>
          <p:nvPr/>
        </p:nvSpPr>
        <p:spPr>
          <a:xfrm>
            <a:off x="6023297" y="1416472"/>
            <a:ext cx="2602781" cy="3050939"/>
          </a:xfrm>
          <a:prstGeom prst="roundRect">
            <a:avLst>
              <a:gd name="adj" fmla="val 5855"/>
            </a:avLst>
          </a:prstGeom>
          <a:solidFill>
            <a:srgbClr val="252B34"/>
          </a:solidFill>
          <a:ln w="7144">
            <a:solidFill>
              <a:srgbClr val="3A415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5"/>
          <p:cNvSpPr/>
          <p:nvPr/>
        </p:nvSpPr>
        <p:spPr>
          <a:xfrm>
            <a:off x="8190275" y="1565613"/>
            <a:ext cx="286041" cy="216402"/>
          </a:xfrm>
          <a:prstGeom prst="roundRect">
            <a:avLst>
              <a:gd name="adj" fmla="val 4397129"/>
            </a:avLst>
          </a:prstGeom>
          <a:solidFill>
            <a:srgbClr val="10B981">
              <a:alpha val="12000"/>
            </a:srgbClr>
          </a:solidFill>
          <a:ln w="7144">
            <a:solidFill>
              <a:srgbClr val="10B98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6"/>
          <p:cNvSpPr/>
          <p:nvPr/>
        </p:nvSpPr>
        <p:spPr>
          <a:xfrm>
            <a:off x="8172673" y="1577206"/>
            <a:ext cx="264096" cy="193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59"/>
              </a:lnSpc>
              <a:buNone/>
            </a:pPr>
            <a:r>
              <a:rPr lang="en-US" sz="800" kern="0" spc="111" dirty="0">
                <a:solidFill>
                  <a:srgbClr val="10B981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6216179" y="1623640"/>
            <a:ext cx="450056" cy="450056"/>
          </a:xfrm>
          <a:prstGeom prst="ellipse">
            <a:avLst/>
          </a:prstGeom>
          <a:solidFill>
            <a:srgbClr val="10B981">
              <a:alpha val="12000"/>
            </a:srgbClr>
          </a:solidFill>
          <a:ln w="7144">
            <a:solidFill>
              <a:srgbClr val="10B981"/>
            </a:solidFill>
            <a:prstDash val="solid"/>
          </a:ln>
          <a:effectLst>
            <a:outerShdw blurRad="228600" dist="50800" dir="16200000" algn="bl" rotWithShape="0">
              <a:srgbClr val="10B981">
                <a:alpha val="18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8"/>
          <p:cNvSpPr/>
          <p:nvPr/>
        </p:nvSpPr>
        <p:spPr>
          <a:xfrm>
            <a:off x="6244397" y="1651858"/>
            <a:ext cx="393621" cy="3936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672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2672" dirty="0"/>
          </a:p>
        </p:txBody>
      </p:sp>
      <p:sp>
        <p:nvSpPr>
          <p:cNvPr id="42" name="Text 39"/>
          <p:cNvSpPr/>
          <p:nvPr/>
        </p:nvSpPr>
        <p:spPr>
          <a:xfrm>
            <a:off x="6212607" y="2177281"/>
            <a:ext cx="2224162" cy="194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181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Native Compile</a:t>
            </a:r>
            <a:endParaRPr lang="en-US" sz="1181" dirty="0"/>
          </a:p>
        </p:txBody>
      </p:sp>
      <p:sp>
        <p:nvSpPr>
          <p:cNvPr id="43" name="Text 40"/>
          <p:cNvSpPr/>
          <p:nvPr/>
        </p:nvSpPr>
        <p:spPr>
          <a:xfrm>
            <a:off x="6189746" y="2444425"/>
            <a:ext cx="1716877" cy="269495"/>
          </a:xfrm>
          <a:prstGeom prst="roundRect">
            <a:avLst>
              <a:gd name="adj" fmla="val 28275"/>
            </a:avLst>
          </a:prstGeom>
          <a:solidFill>
            <a:srgbClr val="38BDF8">
              <a:alpha val="12000"/>
            </a:srgbClr>
          </a:solidFill>
          <a:ln w="7144">
            <a:solidFill>
              <a:srgbClr val="38BDF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1"/>
          <p:cNvSpPr/>
          <p:nvPr/>
        </p:nvSpPr>
        <p:spPr>
          <a:xfrm>
            <a:off x="6476926" y="2514377"/>
            <a:ext cx="1067991" cy="143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73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./gradlew assembleDebug</a:t>
            </a:r>
            <a:endParaRPr lang="en-US" sz="731" dirty="0"/>
          </a:p>
        </p:txBody>
      </p:sp>
      <p:sp>
        <p:nvSpPr>
          <p:cNvPr id="45" name="Text 42"/>
          <p:cNvSpPr/>
          <p:nvPr/>
        </p:nvSpPr>
        <p:spPr>
          <a:xfrm>
            <a:off x="6305476" y="2521967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46" name="Text 43"/>
          <p:cNvSpPr/>
          <p:nvPr/>
        </p:nvSpPr>
        <p:spPr>
          <a:xfrm>
            <a:off x="6212607" y="2801131"/>
            <a:ext cx="2224162" cy="351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Zuverlässiges Kompilieren zum lauffähigen APK ohne Warnungen.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189747" y="4057796"/>
            <a:ext cx="1268066" cy="247394"/>
          </a:xfrm>
          <a:prstGeom prst="roundRect">
            <a:avLst>
              <a:gd name="adj" fmla="val 3846284"/>
            </a:avLst>
          </a:prstGeom>
          <a:solidFill>
            <a:srgbClr val="10B981">
              <a:alpha val="12000"/>
            </a:srgbClr>
          </a:solidFill>
          <a:ln w="7144">
            <a:solidFill>
              <a:srgbClr val="10B98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5"/>
          <p:cNvSpPr/>
          <p:nvPr/>
        </p:nvSpPr>
        <p:spPr>
          <a:xfrm>
            <a:off x="6462638" y="4127748"/>
            <a:ext cx="779562" cy="139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619" kern="0" spc="74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SUCCESSFUL</a:t>
            </a:r>
            <a:endParaRPr lang="en-US" sz="619" dirty="0"/>
          </a:p>
        </p:txBody>
      </p:sp>
      <p:sp>
        <p:nvSpPr>
          <p:cNvPr id="49" name="Text 46"/>
          <p:cNvSpPr/>
          <p:nvPr/>
        </p:nvSpPr>
        <p:spPr>
          <a:xfrm>
            <a:off x="6319763" y="4131432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84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984" dirty="0"/>
          </a:p>
        </p:txBody>
      </p:sp>
      <p:sp>
        <p:nvSpPr>
          <p:cNvPr id="50" name="Text 47"/>
          <p:cNvSpPr/>
          <p:nvPr/>
        </p:nvSpPr>
        <p:spPr>
          <a:xfrm>
            <a:off x="514350" y="4599570"/>
            <a:ext cx="8115300" cy="16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33"/>
              </a:lnSpc>
              <a:buNone/>
            </a:pPr>
            <a:r>
              <a:rPr lang="en-US" sz="800" i="1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0 Fehler im Produktions-Build · APK-Generierung über alle Abhängigkeiten erfolgreich</a:t>
            </a:r>
            <a:endParaRPr lang="en-US" sz="800" dirty="0"/>
          </a:p>
        </p:txBody>
      </p:sp>
      <p:sp>
        <p:nvSpPr>
          <p:cNvPr id="51" name="Text 48"/>
          <p:cNvSpPr/>
          <p:nvPr/>
        </p:nvSpPr>
        <p:spPr>
          <a:xfrm>
            <a:off x="228600" y="157163"/>
            <a:ext cx="1523074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800" kern="0" spc="11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QA &amp; BUILD-VERIFIKATION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8541246" y="157163"/>
            <a:ext cx="560939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800" kern="0" spc="111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09 / 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86625" y="-1000125"/>
            <a:ext cx="2714625" cy="2714625"/>
          </a:xfrm>
          <a:prstGeom prst="ellipse">
            <a:avLst/>
          </a:prstGeom>
          <a:solidFill>
            <a:srgbClr val="38BDF8">
              <a:alpha val="18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-785812" y="3643313"/>
            <a:ext cx="2571750" cy="2571750"/>
          </a:xfrm>
          <a:prstGeom prst="ellipse">
            <a:avLst/>
          </a:prstGeom>
          <a:solidFill>
            <a:srgbClr val="10B98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4262944" y="1474084"/>
            <a:ext cx="618001" cy="216402"/>
          </a:xfrm>
          <a:prstGeom prst="roundRect">
            <a:avLst>
              <a:gd name="adj" fmla="val 4397129"/>
            </a:avLst>
          </a:prstGeom>
          <a:solidFill>
            <a:srgbClr val="38BDF8">
              <a:alpha val="12000"/>
            </a:srgbClr>
          </a:solidFill>
          <a:ln w="7144">
            <a:solidFill>
              <a:srgbClr val="38BDF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4485905" y="1528539"/>
            <a:ext cx="314954" cy="139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59"/>
              </a:lnSpc>
              <a:buNone/>
            </a:pPr>
            <a:r>
              <a:rPr lang="en-US" sz="619" kern="0" spc="74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FAZIT</a:t>
            </a:r>
            <a:endParaRPr lang="en-US" sz="619" dirty="0"/>
          </a:p>
        </p:txBody>
      </p:sp>
      <p:sp>
        <p:nvSpPr>
          <p:cNvPr id="7" name="Text 4"/>
          <p:cNvSpPr/>
          <p:nvPr/>
        </p:nvSpPr>
        <p:spPr>
          <a:xfrm>
            <a:off x="4378672" y="1532223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84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984" dirty="0"/>
          </a:p>
        </p:txBody>
      </p:sp>
      <p:sp>
        <p:nvSpPr>
          <p:cNvPr id="8" name="Text 5"/>
          <p:cNvSpPr/>
          <p:nvPr/>
        </p:nvSpPr>
        <p:spPr>
          <a:xfrm>
            <a:off x="274320" y="1807480"/>
            <a:ext cx="8595248" cy="1296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725"/>
              </a:lnSpc>
              <a:buNone/>
            </a:pPr>
            <a:r>
              <a:rPr lang="en-US" sz="4500" b="1" kern="0" spc="-135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Vielen Dank für Ihre</a:t>
            </a:r>
            <a:endParaRPr lang="en-US" sz="4500" dirty="0"/>
          </a:p>
          <a:p>
            <a:pPr marL="0" indent="0" algn="ctr">
              <a:lnSpc>
                <a:spcPts val="4725"/>
              </a:lnSpc>
              <a:buNone/>
            </a:pPr>
            <a:r>
              <a:rPr lang="en-US" sz="4500" b="1" kern="0" spc="-135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Aufmerksamkeit!</a:t>
            </a:r>
            <a:endParaRPr lang="en-US" sz="45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9100" y="3179080"/>
            <a:ext cx="685800" cy="2857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33826" y="3379105"/>
            <a:ext cx="2076236" cy="300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94"/>
              </a:lnSpc>
              <a:buNone/>
            </a:pPr>
            <a:r>
              <a:rPr lang="en-US" sz="1688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Fragen &amp; Diskussion</a:t>
            </a:r>
            <a:endParaRPr lang="en-US" sz="1688" dirty="0"/>
          </a:p>
        </p:txBody>
      </p:sp>
      <p:sp>
        <p:nvSpPr>
          <p:cNvPr id="11" name="Text 7"/>
          <p:cNvSpPr/>
          <p:nvPr/>
        </p:nvSpPr>
        <p:spPr>
          <a:xfrm>
            <a:off x="517922" y="3859188"/>
            <a:ext cx="2612157" cy="937840"/>
          </a:xfrm>
          <a:prstGeom prst="roundRect">
            <a:avLst>
              <a:gd name="adj" fmla="val 14219"/>
            </a:avLst>
          </a:prstGeom>
          <a:solidFill>
            <a:srgbClr val="252B34"/>
          </a:solidFill>
          <a:ln w="7144">
            <a:solidFill>
              <a:srgbClr val="3A415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8"/>
          <p:cNvSpPr/>
          <p:nvPr/>
        </p:nvSpPr>
        <p:spPr>
          <a:xfrm>
            <a:off x="664369" y="3991347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◆</a:t>
            </a:r>
            <a:endParaRPr lang="en-US" sz="1125" dirty="0"/>
          </a:p>
        </p:txBody>
      </p:sp>
      <p:sp>
        <p:nvSpPr>
          <p:cNvPr id="13" name="Text 9"/>
          <p:cNvSpPr/>
          <p:nvPr/>
        </p:nvSpPr>
        <p:spPr>
          <a:xfrm>
            <a:off x="984252" y="4087564"/>
            <a:ext cx="427553" cy="170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9"/>
              </a:lnSpc>
              <a:buNone/>
            </a:pPr>
            <a:r>
              <a:rPr lang="en-US" sz="800" kern="0" spc="11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FAZIT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664369" y="4377110"/>
            <a:ext cx="2319263" cy="287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33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Vue 3 + Capacitor 8 — mächtiger Ansatz für schnelle, wartbare Multi-Plattform Geodaten-Apps.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3265810" y="3859188"/>
            <a:ext cx="2612268" cy="937840"/>
          </a:xfrm>
          <a:prstGeom prst="roundRect">
            <a:avLst>
              <a:gd name="adj" fmla="val 14219"/>
            </a:avLst>
          </a:prstGeom>
          <a:solidFill>
            <a:srgbClr val="252B34"/>
          </a:solidFill>
          <a:ln w="7144">
            <a:solidFill>
              <a:srgbClr val="3A415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3412257" y="3991347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10B98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17" name="Text 13"/>
          <p:cNvSpPr/>
          <p:nvPr/>
        </p:nvSpPr>
        <p:spPr>
          <a:xfrm>
            <a:off x="3729143" y="4087564"/>
            <a:ext cx="700770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59"/>
              </a:lnSpc>
              <a:buNone/>
            </a:pPr>
            <a:r>
              <a:rPr lang="en-US" sz="619" kern="0" spc="11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REPOSITORY</a:t>
            </a:r>
            <a:endParaRPr lang="en-US" sz="619" dirty="0"/>
          </a:p>
        </p:txBody>
      </p:sp>
      <p:sp>
        <p:nvSpPr>
          <p:cNvPr id="18" name="Text 14"/>
          <p:cNvSpPr/>
          <p:nvPr/>
        </p:nvSpPr>
        <p:spPr>
          <a:xfrm>
            <a:off x="3412257" y="4377110"/>
            <a:ext cx="24121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97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https://github.com/whynotTJ/map.git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6013810" y="3859188"/>
            <a:ext cx="2612157" cy="937840"/>
          </a:xfrm>
          <a:prstGeom prst="roundRect">
            <a:avLst>
              <a:gd name="adj" fmla="val 14219"/>
            </a:avLst>
          </a:prstGeom>
          <a:solidFill>
            <a:srgbClr val="252B34"/>
          </a:solidFill>
          <a:ln w="7144">
            <a:solidFill>
              <a:srgbClr val="3A415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6160257" y="3991347"/>
            <a:ext cx="31432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✉</a:t>
            </a:r>
            <a:endParaRPr lang="en-US" sz="1125" dirty="0"/>
          </a:p>
        </p:txBody>
      </p:sp>
      <p:sp>
        <p:nvSpPr>
          <p:cNvPr id="21" name="Text 17"/>
          <p:cNvSpPr/>
          <p:nvPr/>
        </p:nvSpPr>
        <p:spPr>
          <a:xfrm>
            <a:off x="6469447" y="4087564"/>
            <a:ext cx="555874" cy="170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59"/>
              </a:lnSpc>
              <a:buNone/>
            </a:pPr>
            <a:r>
              <a:rPr lang="en-US" sz="800" kern="0" spc="11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KONTAKT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160257" y="4377110"/>
            <a:ext cx="2319263" cy="287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33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Fragen &amp; Diskussion — ich freue mich auf den Austausch!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8447854" y="157163"/>
            <a:ext cx="560939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59"/>
              </a:lnSpc>
              <a:buNone/>
            </a:pPr>
            <a:r>
              <a:rPr lang="en-US" sz="800" kern="0" spc="111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1393</Words>
  <Application>Microsoft Office PowerPoint</Application>
  <PresentationFormat>Bildschirmpräsentation (16:9)</PresentationFormat>
  <Paragraphs>287</Paragraphs>
  <Slides>10</Slides>
  <Notes>10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7" baseType="lpstr">
      <vt:lpstr>Arial</vt:lpstr>
      <vt:lpstr>Carlito</vt:lpstr>
      <vt:lpstr>Courier New</vt:lpstr>
      <vt:lpstr>Liberation Mono</vt:lpstr>
      <vt:lpstr>Liberation Sans Narrow</vt:lpstr>
      <vt:lpstr>Segoe UI Symbol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Tom Stammer</cp:lastModifiedBy>
  <cp:revision>2</cp:revision>
  <dcterms:created xsi:type="dcterms:W3CDTF">2026-07-27T14:50:16Z</dcterms:created>
  <dcterms:modified xsi:type="dcterms:W3CDTF">2026-07-29T11:21:03Z</dcterms:modified>
</cp:coreProperties>
</file>